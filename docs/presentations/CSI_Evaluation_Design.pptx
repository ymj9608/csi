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구성: 본편 약 8–10분을 권장합니다. 이 장은 담당 영역의 평가 항목과 뒤의 증거 위치를 연결합니다. 근거: AI-Agent Capstone(+MCP).pdf 인쇄 쪽수 73, PDF 물리 페이지 74. 전체 평가표 중 담당한 네 영역만 다룹니다. 아키텍처 10, AI Agent 설계 15, AI Agent 구현 15, MCP 설계·구현 20 = 배점 60. Harness·인증·대기열은 별도 배점으로 합산하지 않고 관련 설계 근거로만 언급합니다. 기존 CSI.pdf의 네이비·화이트·오렌지, 선 중심 디자인을 이어갑니다. 뒤 장표의 과거 실행 기록은 오늘의 재실행과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첨부된 공유 State/Graph 설계 표와 같은 두 열 구성입니다. 왼쪽은 구성요소·실제 기술·책임, 오른쪽은 세부 평가 관점·설계 내용·코드 근거를 연결합니다. 정적 검사에서 결과 저장과 화면 갱신까지 완성된 경로를 설명합니다. 202는 접수 성공이며 최종 분석 완료를 의미하지 않습니다. 결과 발행은 승인 대기보다 먼저 수행되므로 완료 보고서와 PENDING 승인은 동시에 존재할 수 있습니다. 승인 요청은 Harness가 생성하고 승인 후 실제 변경은 CSI 내부 이슈 생성으로 제한됩니다. Backend 소비 재시도 소진의 DLT는 즉시 FAILED를 저장하는 전용 소비 경로가 없고, 승인 재개 실패는 기존 완료 보고서를 덮어쓰지 않습니다. 근거 범례: D docs/ARCHITECTURE.md; I backend/src/main/java/com/csi/Intake.java; K backend/src/main/java/com/csi/KafkaPipeline.java; C backend/src/main/java/com/csi/ApiController.java; S backend/src/main/java/com/csi/Security.java; G agent/csi_agent/graph.py; A agent/csi_agent/app.py; M mcp_servers/business.py 및 rag.py; T tests/ 및 docs/verification.json, docs/CHANGE_REVIEWS.md. 서비스 배포는 frontend/compose.yml, UI는 frontend/src/views/Console.vue, 벡터 검색은 mcp_servers/vector.py에서 확인합니다.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평가표는 표준의 판을 지정하지 않아 2023판의 9개 제품 품질 특성을 기준으로 연결했습니다. 왼쪽에 주요 기능·실행 통제 특성 5개, 오른쪽에 운영·확장 특성 4개와 검증의 해석 범위를 배치했습니다. QA-01부터 QA-09는 docs/ARCHITECTURE.md의 요구사항 추적 ID이며, 코드 위치와 V1–V4 실행 근거에 연결됩니다. QA-01 기능 적합성, QA-02 성능 효율성, QA-03 호환성, QA-04 상호작용 능력, QA-05 신뢰성, QA-06 보안성, QA-07 유지보수성, QA-08 유연성, QA-09 안전성. V1/V2는 2026-10-21 Python 40개/Java 8개 테스트, V3는 2026-10-19 Local Demo 통합, V4는 2026-10-20 변경 리뷰·E2E 기록입니다. 테스트 대역과 실제 서비스 통합은 구분합니다. 기준 개수는 정확도·커버리지 비율이 아닙니다. 2011판 사용성/이식성은 2023판 상호작용 능력/유연성으로 개정되었고 안전성이 추가됐습니다. 안전성은 오판과 자동 실행의 운영 피해를 줄이는 제한된 설계 관점이며 정식 위해 분석은 아닙니다. 공식 출처 https://www.iso.org/standard/78176.html . ISO 인증이나 전체 품질 특성 충족 선언이 아닙니다.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개 LangGraph Agent이며 Red/Blue는 내부 분석 단계입니다. State는 event, findings, changes, policy, references, comparison, action, observation, trace, toolCounts, budget, approval, decision 등을 보존합니다. 초기 검사 검증 및 Finding/변경 조회는 고정된 업무 단계입니다. 현재/기준 Finding이나 변경 파일이 있으면 선택 반복으로 들어갑니다. finish_analysis 요청이 있어도 정책·POL-01 비교·규칙별 내부/외부 근거가 부족하면 종료를 거부합니다. Red에서 정적 사실을 구성하고 Blue 단계에서 LLM 리뷰와 출력 검증을 수행합니다. 리뷰 결과 발행 후 현재 Finding이 있으면 승인 중단, 없으면 종료합니다. 본 그림은 실제 노드를 묶은 요약이며 전체 edge 목록은 graph.py에 있습니다. 모든 단계가 모델의 자율 선택은 아닙니다.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실행 기록을 도식화한 장표이며 새 실행 결과나 원본 화면 캡처는 아닙니다. scanId 3e963769-b666-4d74-be45-5dee03b54769, 2026-10-19 LOCAL_DEMO, gpt-4.1-mini, COMPLETED/LLM. 선택 5턴(종료 포함) + 리뷰 배치 2회로 모델 API 호출 7회였고 API usage 11,338 tokens입니다. 초기 고정 MCP 조회는 이 선택 5턴과 별개입니다. finish_analysis는 MCP 도구가 아닌 로컬 제어 동작입니다. 실제 trace는 get_privacy_policy, compare_policy_with_findings, search_internal_privacy_policy, search_security_guidelines, finish_analysis 순서였습니다. 순서가 이 사례에서 이렇게 나왔으며 모든 검사에서 고정된 순서라고 설명하지 않습니다. 모델 출력의 존재하지 않는 사실/문서 ID와 C1 인용 누락을 검증합니다. 참조 ID가 유효해도 모든 문장의 의미적 정확성을 보장하지 않습니다.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 발행은 승인 대기 이전입니다. 완료 보고서와 승인 PENDING은 동시에 존재할 수 있습니다. interrupt 이후 PostgresSaver에 저장되며 thread_id는 scanId입니다. 사용자의 결정은 Backend가 DB/Outbox에 저장합니다. APPROVAL_DECIDED가 기존 scan.request를 타고 전달되면 Agent가 영속 승인 상태를 Backend에서 재조회하여 Command(resume)합니다. 승인 시 create_security_issue를 호출하고 Backend가 다시 승인 상태를 확인해 승인별 멱등 내부 이슈를 기록합니다. 거절 시 이슈 없이 종료합니다. Outbox 최대 3회, Worker 최대 2회, Backend 소비 초기 + 2회 재시도 후 DLT입니다. 승인 재개 실패는 기존 완료 보고서를 FAILED로 덮지 않습니다. 오래된 QUEUED/RUNNING 10분 초과 처리는 있지만 COMPLETED 검사의 승인 정체는 대상이 아닙니다. DLQ 자동 재처리는 없습니다. 2026-10-19 실행 기록에서 DB 체크포인트와 승인/거절을 확인했고 프로세스 강제 종료 후 복구는 별도 미검증입니다.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business-mcp 8개(읽기 6, 변경 2), rag-mcp 3개 읽기 도구와 1개 URI 템플릿 Resource를 구현했습니다. 모든 도구에 설명과 타입 인자, annotation이 있습니다. 초기 context/findings/changes 조회는 고정 흐름입니다. 모델의 자유 선택은 business 3개 + rag 3개 읽기 도구이며 finish_analysis는 로컬 종료 제어입니다. request_security_review는 승인 요청 레코드를 만드는 쓰기이며 승인 이전에 Harness가 수행합니다. create_security_issue만 HITL 승인과 Backend 재검증 이후 실행합니다. 두 쓰기 도구를 모두 승인 후 실행한다고 표현하지 않습니다. business-mcp는 /internal API를 경유하며 업무 DB 직접 접근은 없습니다. rag-mcp는 Qdrant 검색을 담당합니다.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LLM은 명시된 함수 스키마를 보고 호출을 제안합니다. Harness는 도구 allowlist와 정확한 인자 키, rule_id 범위, query 길이를 검사합니다. business 도구의 scanId는 모델이 바꾸지 못하도록 Harness가 주입합니다. FastMCP Client는 Bearer로 Streamable HTTP 서버에 연결합니다. 15초 시간 제한 내 호출하며 서버 오류/예산 소진은 TOOL_ERROR 관측으로 다음 선택에 반영합니다. 예산 소진 도구는 선택 목록에서 제외하고 도구 이름별 반복은 3회입니다. 최대 12턴 후에는 실패합니다. 모델 선택 실패는 명시적 LLM_FALLBACK이며 무제한 반복이 아닙니다. 모든 MCP 오류가 동일 상세 원인으로 관측되는 한계가 있어 원인별 분류는 향후 과제입니다. readOnlyHint/destructiveHint는 설명 메타데이터이고 접근 통제는 토큰·인자·Backend 승인 검증이 담당합니다. 내부 HTTP는 TLS가 아닙니다.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PrivacyGuard 사내 정책/외부 참조집 2개 PDF에서 조항과 실제 페이지를 추출해 47개 청크를 만들었습니다. PG-POL 28개, PG-REF 19개입니다. 1024차원 문자 2–4그램 HashingVectorizer로 벡터화하고 Qdrant cosine 검색 및 문서 유형/규칙 필터를 적용합니다. 신경망 임베딩 모델을 쓰는 구조가 아닙니다. OWASP/NIST 관련 설명이 참조집에 포함될 수 있지만 공식 원문 corpus를 직접 색인한 것은 아닙니다. policy_review는 필드를 승인/제한 목록과 대조합니다. AST는 지원 클래스와 명시적 생성자/db.add 및 실습 조건을 관찰합니다. 변경 리뷰는 C1 변경 사실을 추가합니다. 수집 목적·보유 기간·별도 승인 기록·런타임 로그 자동 연계는 미구현입니다. match_business_context 도구는 없으며 이를 구현된 기능처럼 설명하지 않습니다. 근거 ID와 실제 페이지를 반환하더라도 법적 위반이나 실제 수집을 확정하지 않습니다.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배점 60점 영역의 검증 안내이지 획득 점수표가 아닙니다. 2026-10-21 동일 코드 e9a7048에서 Python 40개, Java 8개가 통과했습니다. Python 테스트는 Semgrep fixture 실제 실행과 모델/MCP 대역 테스트가 혼합되어 있습니다. Java 8개는 입력/출력 경계 단위 테스트입니다. 2026-10-19의 HITL/장애/인증 기록과 2026-10-20의 실제 LLM 변경 리뷰/Chrome E2E 2개/Vue 빌드 기록은 과거 Local Demo입니다. 오늘 새 LLM·GitHub Push·장애 주입을 실행한 것으로 표현하지 않습니다. 테스트 개수를 탐지 정확도나 전체 서비스 커버리지 비율로 해석하지 않습니다. 단위/통합 검증은 있으며 대표 정확도 데이터셋, p95·비용, 부하·장애 복구 평가는 추가 과제입니다.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QA-01부터 QA-09까지는 CSI가 부여한 추적 ID입니다. 2011판의 Usability는 2023판 Interaction capability, Portability는 Flexibility로 개정되었고 Safety가 추가됐습니다. 세부 특성이 일대일 동일하다고 해석하지 않습니다. ISO 공식 페이지: https://www.iso.org/standard/78176.html ; 이전판 https://www.iso.org/standard/35733.html ; 개정 내용: https://gso-sims-preview-doc-aws.s3-eu-west-1.amazonaws.com/gso-iso-iec-25010-2025-en.html . 요구사항·코드 경로·검증 V1–V4 및 미실행 합격 기준 제안은 docs/ARCHITECTURE.md에 정리했습니다. 접수 p95 ≤ 1초 등 제안 목표는 아직 실측하지 않았으며 달성 실적으로 발표하지 않습니다.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실제 구현 여부를 물으시면 이 표의 파일과 테스트를 보여주세요. 주요 테스트: test_dynamic_order_observation_replan_and_approval_resume, test_real_planner_contract_rejects_write_and_cross_scan, test_mcp_annotations_and_mutations_are_not_model_tools, test_context_bound_and_shared_documents_with_300_findings, test_budget_caps_context_calls_and_deadline, test_llm_cannot_create_findings_or_citations, test_change_context_flows_through_mcp_graph_and_result. Spring IntakeTest/EvidenceContextTest/ChangeSetTest는 입력·근거 경계를 확인합니다. 메모리 체크포인터를 사용하는 단위 테스트와 PostgreSQL을 쓰는 과거 실제 통합 증거는 분리해 설명합니다. 실행 명령: 저장소 루트에서 SSL_CERT_FILE=/etc/ssl/cert.pem .venv/bin/python -m pytest tests -q ; mvn -o -f backend/pom.xml test -q. 브라우저 E2E는 실제 완료 데이터와 로컬 서버가 필요하며 변경 비교용 scanId 환경 변수 없이는 건너뛸 수 있습니다.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LLM 모드로 완료되고 도구 trace 및 인용을 가진 Local Demo 검사를 준비합니다. 승인 시연에는 아직 PENDING인 별도 검토 요청을 사용하고 중복 클릭으로 새 승인 요청을 만들지 않습니다. 이 자료 작성 중 새로운 검사나 승인 작업을 실행하지 않았습니다. 확인 순서: metadata 동일성, 선택 trace의 모드·턴·관측 상태, 정적 사실/문서 ID 및 페이지, 동일 scanId의 model_decision/mcp_start/mcp_complete/approval_interrupt/finalize 로그, 승인 결정 재개 후 내부 이슈. 보고서에 COMPLETED가 나왔다고 안전 판정이나 승인 완료가 아닙니다. 발표 질문: 왜 Agent인가? 모델이 관측을 받아 다음 읽기 도구를 선택하고 종료 조건을 검사하는 루프가 있다. 왜 MCP인가? 명시적 도구 계약으로 업무 API와 근거 검색을 분리하여 연결한다. 업무 맥락의 한계는? 정책/정적 사실까지이며 실제 수집 목적과 승인 기록 자동 검증은 없다.</a:t>
            </a:r>
          </a:p>
          <a:p/>
          <a:p>
            <a:r>
              <a:t>검토 기준: 2026-10-21, 코드 e9a7048. 이번 파일은 평가 배점을 설명하며 획득 점수를 선언하지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831"/>
        </a:solidFill>
        <a:effectLst/>
      </p:bgPr>
    </p:bg>
    <p:spTree>
      <p:nvGrpSpPr>
        <p:cNvPr id="1" name=""/>
        <p:cNvGrpSpPr/>
        <p:nvPr/>
      </p:nvGrpSpPr>
      <p:grpSpPr/>
      <p:sp>
        <p:nvSpPr>
          <p:cNvPr id="2" name="Rectangle 1"/>
          <p:cNvSpPr/>
          <p:nvPr/>
        </p:nvSpPr>
        <p:spPr>
          <a:xfrm>
            <a:off x="474133" y="423333"/>
            <a:ext cx="33866" cy="321733"/>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1933" y="465666"/>
            <a:ext cx="8466666" cy="270933"/>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B9C8DD"/>
                </a:solidFill>
                <a:latin typeface="Arial"/>
                <a:ea typeface="Apple SD Gothic Neo"/>
              </a:rPr>
              <a:t>CSI  /  ARCHITECTURE · AGENT · MCP</a:t>
            </a:r>
          </a:p>
        </p:txBody>
      </p:sp>
      <p:sp>
        <p:nvSpPr>
          <p:cNvPr id="4" name="Rectangle 3"/>
          <p:cNvSpPr/>
          <p:nvPr/>
        </p:nvSpPr>
        <p:spPr>
          <a:xfrm>
            <a:off x="10143066" y="296333"/>
            <a:ext cx="1574800" cy="6011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si-wordmark.png"/>
          <p:cNvPicPr>
            <a:picLocks noChangeAspect="1"/>
          </p:cNvPicPr>
          <p:nvPr/>
        </p:nvPicPr>
        <p:blipFill>
          <a:blip r:embed="rId2"/>
          <a:stretch>
            <a:fillRect/>
          </a:stretch>
        </p:blipFill>
        <p:spPr>
          <a:xfrm>
            <a:off x="10236200" y="397933"/>
            <a:ext cx="1388533" cy="407643"/>
          </a:xfrm>
          <a:prstGeom prst="rect">
            <a:avLst/>
          </a:prstGeom>
        </p:spPr>
      </p:pic>
      <p:sp>
        <p:nvSpPr>
          <p:cNvPr id="6" name="TextBox 5"/>
          <p:cNvSpPr txBox="1"/>
          <p:nvPr/>
        </p:nvSpPr>
        <p:spPr>
          <a:xfrm>
            <a:off x="474133" y="1092200"/>
            <a:ext cx="11006666" cy="1143000"/>
          </a:xfrm>
          <a:prstGeom prst="rect">
            <a:avLst/>
          </a:prstGeom>
          <a:noFill/>
        </p:spPr>
        <p:txBody>
          <a:bodyPr wrap="square" lIns="0" rIns="0" tIns="0" bIns="0" anchor="t">
            <a:spAutoFit/>
          </a:bodyPr>
          <a:lstStyle/>
          <a:p>
            <a:pPr algn="l">
              <a:lnSpc>
                <a:spcPct val="110000"/>
              </a:lnSpc>
              <a:spcBef>
                <a:spcPts val="0"/>
              </a:spcBef>
              <a:spcAft>
                <a:spcPts val="0"/>
              </a:spcAft>
            </a:pPr>
            <a:r>
              <a:rPr sz="3400" b="1">
                <a:solidFill>
                  <a:srgbClr val="FFFFFF"/>
                </a:solidFill>
                <a:latin typeface="Apple SD Gothic Neo"/>
                <a:ea typeface="Apple SD Gothic Neo"/>
              </a:rPr>
              <a:t>평가 기준을</a:t>
            </a:r>
          </a:p>
          <a:p>
            <a:pPr algn="l">
              <a:lnSpc>
                <a:spcPct val="110000"/>
              </a:lnSpc>
              <a:spcBef>
                <a:spcPts val="0"/>
              </a:spcBef>
              <a:spcAft>
                <a:spcPts val="0"/>
              </a:spcAft>
            </a:pPr>
            <a:r>
              <a:rPr sz="3400" b="1">
                <a:solidFill>
                  <a:srgbClr val="FFFFFF"/>
                </a:solidFill>
                <a:latin typeface="Apple SD Gothic Neo"/>
                <a:ea typeface="Apple SD Gothic Neo"/>
              </a:rPr>
              <a:t>설계와 실행 근거로 연결했습니다</a:t>
            </a:r>
          </a:p>
        </p:txBody>
      </p:sp>
      <p:sp>
        <p:nvSpPr>
          <p:cNvPr id="7" name="TextBox 6"/>
          <p:cNvSpPr txBox="1"/>
          <p:nvPr/>
        </p:nvSpPr>
        <p:spPr>
          <a:xfrm>
            <a:off x="491066" y="2506133"/>
            <a:ext cx="10752666" cy="355600"/>
          </a:xfrm>
          <a:prstGeom prst="rect">
            <a:avLst/>
          </a:prstGeom>
          <a:noFill/>
        </p:spPr>
        <p:txBody>
          <a:bodyPr wrap="square" lIns="0" rIns="0" tIns="0" bIns="0" anchor="t">
            <a:spAutoFit/>
          </a:bodyPr>
          <a:lstStyle/>
          <a:p>
            <a:pPr algn="l">
              <a:lnSpc>
                <a:spcPct val="118000"/>
              </a:lnSpc>
              <a:spcBef>
                <a:spcPts val="0"/>
              </a:spcBef>
              <a:spcAft>
                <a:spcPts val="0"/>
              </a:spcAft>
            </a:pPr>
            <a:r>
              <a:rPr sz="1933" b="0">
                <a:solidFill>
                  <a:srgbClr val="B9C8DD"/>
                </a:solidFill>
                <a:latin typeface="Apple SD Gothic Neo"/>
                <a:ea typeface="Apple SD Gothic Neo"/>
              </a:rPr>
              <a:t>설계 의도 → 구현 위치 → 검증 결과 순서로 확인하는 담당 영역 60점</a:t>
            </a:r>
          </a:p>
        </p:txBody>
      </p:sp>
      <p:cxnSp>
        <p:nvCxnSpPr>
          <p:cNvPr id="8" name="Connector 7"/>
          <p:cNvCxnSpPr/>
          <p:nvPr/>
        </p:nvCxnSpPr>
        <p:spPr>
          <a:xfrm>
            <a:off x="474133" y="3293533"/>
            <a:ext cx="0" cy="2548467"/>
          </a:xfrm>
          <a:prstGeom prst="line">
            <a:avLst/>
          </a:prstGeom>
          <a:ln w="8466">
            <a:solidFill>
              <a:srgbClr val="38506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3466" y="3378200"/>
            <a:ext cx="2116666" cy="575733"/>
          </a:xfrm>
          <a:prstGeom prst="rect">
            <a:avLst/>
          </a:prstGeom>
          <a:noFill/>
        </p:spPr>
        <p:txBody>
          <a:bodyPr wrap="square" lIns="0" rIns="0" tIns="0" bIns="0" anchor="t">
            <a:spAutoFit/>
          </a:bodyPr>
          <a:lstStyle/>
          <a:p>
            <a:pPr algn="l">
              <a:lnSpc>
                <a:spcPct val="118000"/>
              </a:lnSpc>
              <a:spcBef>
                <a:spcPts val="0"/>
              </a:spcBef>
              <a:spcAft>
                <a:spcPts val="0"/>
              </a:spcAft>
            </a:pPr>
            <a:r>
              <a:rPr sz="3600" b="1">
                <a:solidFill>
                  <a:srgbClr val="FF6B35"/>
                </a:solidFill>
                <a:latin typeface="Arial"/>
                <a:ea typeface="Apple SD Gothic Neo"/>
              </a:rPr>
              <a:t>10</a:t>
            </a:r>
          </a:p>
        </p:txBody>
      </p:sp>
      <p:sp>
        <p:nvSpPr>
          <p:cNvPr id="10" name="TextBox 9"/>
          <p:cNvSpPr txBox="1"/>
          <p:nvPr/>
        </p:nvSpPr>
        <p:spPr>
          <a:xfrm>
            <a:off x="1337733" y="3598333"/>
            <a:ext cx="8466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B9C8DD"/>
                </a:solidFill>
                <a:latin typeface="Apple SD Gothic Neo"/>
                <a:ea typeface="Apple SD Gothic Neo"/>
              </a:rPr>
              <a:t>점 배점</a:t>
            </a:r>
          </a:p>
        </p:txBody>
      </p:sp>
      <p:sp>
        <p:nvSpPr>
          <p:cNvPr id="11" name="TextBox 10"/>
          <p:cNvSpPr txBox="1"/>
          <p:nvPr/>
        </p:nvSpPr>
        <p:spPr>
          <a:xfrm>
            <a:off x="643466" y="4114800"/>
            <a:ext cx="2531533" cy="3556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FFFFFF"/>
                </a:solidFill>
                <a:latin typeface="Apple SD Gothic Neo"/>
                <a:ea typeface="Apple SD Gothic Neo"/>
              </a:rPr>
              <a:t>아키텍처 설계</a:t>
            </a:r>
          </a:p>
        </p:txBody>
      </p:sp>
      <p:sp>
        <p:nvSpPr>
          <p:cNvPr id="12" name="TextBox 11"/>
          <p:cNvSpPr txBox="1"/>
          <p:nvPr/>
        </p:nvSpPr>
        <p:spPr>
          <a:xfrm>
            <a:off x="643466" y="4665133"/>
            <a:ext cx="2531533" cy="685800"/>
          </a:xfrm>
          <a:prstGeom prst="rect">
            <a:avLst/>
          </a:prstGeom>
          <a:noFill/>
        </p:spPr>
        <p:txBody>
          <a:bodyPr wrap="square" lIns="0" rIns="0" tIns="0" bIns="0" anchor="t">
            <a:spAutoFit/>
          </a:bodyPr>
          <a:lstStyle/>
          <a:p>
            <a:pPr algn="l">
              <a:lnSpc>
                <a:spcPct val="130000"/>
              </a:lnSpc>
              <a:spcBef>
                <a:spcPts val="0"/>
              </a:spcBef>
              <a:spcAft>
                <a:spcPts val="0"/>
              </a:spcAft>
            </a:pPr>
            <a:r>
              <a:rPr sz="1600" b="0">
                <a:solidFill>
                  <a:srgbClr val="B9C8DD"/>
                </a:solidFill>
                <a:latin typeface="Apple SD Gothic Neo"/>
                <a:ea typeface="Apple SD Gothic Neo"/>
              </a:rPr>
              <a:t>전체 AI 구조</a:t>
            </a:r>
          </a:p>
          <a:p>
            <a:pPr algn="l">
              <a:lnSpc>
                <a:spcPct val="130000"/>
              </a:lnSpc>
              <a:spcBef>
                <a:spcPts val="0"/>
              </a:spcBef>
              <a:spcAft>
                <a:spcPts val="0"/>
              </a:spcAft>
            </a:pPr>
            <a:r>
              <a:rPr sz="1600" b="0">
                <a:solidFill>
                  <a:srgbClr val="B9C8DD"/>
                </a:solidFill>
                <a:latin typeface="Apple SD Gothic Neo"/>
                <a:ea typeface="Apple SD Gothic Neo"/>
              </a:rPr>
              <a:t>ISO/IEC 25010 고려</a:t>
            </a:r>
          </a:p>
        </p:txBody>
      </p:sp>
      <p:sp>
        <p:nvSpPr>
          <p:cNvPr id="13" name="TextBox 12"/>
          <p:cNvSpPr txBox="1"/>
          <p:nvPr/>
        </p:nvSpPr>
        <p:spPr>
          <a:xfrm>
            <a:off x="643466" y="5528733"/>
            <a:ext cx="2531533" cy="245533"/>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FFFFFF"/>
                </a:solidFill>
                <a:latin typeface="Arial"/>
                <a:ea typeface="Apple SD Gothic Neo"/>
              </a:rPr>
              <a:t>02–03 / 부록 11</a:t>
            </a:r>
          </a:p>
        </p:txBody>
      </p:sp>
      <p:cxnSp>
        <p:nvCxnSpPr>
          <p:cNvPr id="14" name="Connector 13"/>
          <p:cNvCxnSpPr/>
          <p:nvPr/>
        </p:nvCxnSpPr>
        <p:spPr>
          <a:xfrm>
            <a:off x="3335866" y="3293533"/>
            <a:ext cx="0" cy="2548467"/>
          </a:xfrm>
          <a:prstGeom prst="line">
            <a:avLst/>
          </a:prstGeom>
          <a:ln w="8466">
            <a:solidFill>
              <a:srgbClr val="38506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505200" y="3378200"/>
            <a:ext cx="2116666" cy="575733"/>
          </a:xfrm>
          <a:prstGeom prst="rect">
            <a:avLst/>
          </a:prstGeom>
          <a:noFill/>
        </p:spPr>
        <p:txBody>
          <a:bodyPr wrap="square" lIns="0" rIns="0" tIns="0" bIns="0" anchor="t">
            <a:spAutoFit/>
          </a:bodyPr>
          <a:lstStyle/>
          <a:p>
            <a:pPr algn="l">
              <a:lnSpc>
                <a:spcPct val="118000"/>
              </a:lnSpc>
              <a:spcBef>
                <a:spcPts val="0"/>
              </a:spcBef>
              <a:spcAft>
                <a:spcPts val="0"/>
              </a:spcAft>
            </a:pPr>
            <a:r>
              <a:rPr sz="3600" b="1">
                <a:solidFill>
                  <a:srgbClr val="FF6B35"/>
                </a:solidFill>
                <a:latin typeface="Arial"/>
                <a:ea typeface="Apple SD Gothic Neo"/>
              </a:rPr>
              <a:t>15</a:t>
            </a:r>
          </a:p>
        </p:txBody>
      </p:sp>
      <p:sp>
        <p:nvSpPr>
          <p:cNvPr id="16" name="TextBox 15"/>
          <p:cNvSpPr txBox="1"/>
          <p:nvPr/>
        </p:nvSpPr>
        <p:spPr>
          <a:xfrm>
            <a:off x="4199466" y="3598333"/>
            <a:ext cx="8466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B9C8DD"/>
                </a:solidFill>
                <a:latin typeface="Apple SD Gothic Neo"/>
                <a:ea typeface="Apple SD Gothic Neo"/>
              </a:rPr>
              <a:t>점 배점</a:t>
            </a:r>
          </a:p>
        </p:txBody>
      </p:sp>
      <p:sp>
        <p:nvSpPr>
          <p:cNvPr id="17" name="TextBox 16"/>
          <p:cNvSpPr txBox="1"/>
          <p:nvPr/>
        </p:nvSpPr>
        <p:spPr>
          <a:xfrm>
            <a:off x="3505200" y="4114800"/>
            <a:ext cx="2531533" cy="3556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FFFFFF"/>
                </a:solidFill>
                <a:latin typeface="Apple SD Gothic Neo"/>
                <a:ea typeface="Apple SD Gothic Neo"/>
              </a:rPr>
              <a:t>AI Agent 설계</a:t>
            </a:r>
          </a:p>
        </p:txBody>
      </p:sp>
      <p:sp>
        <p:nvSpPr>
          <p:cNvPr id="18" name="TextBox 17"/>
          <p:cNvSpPr txBox="1"/>
          <p:nvPr/>
        </p:nvSpPr>
        <p:spPr>
          <a:xfrm>
            <a:off x="3505200" y="4665133"/>
            <a:ext cx="2531533" cy="685800"/>
          </a:xfrm>
          <a:prstGeom prst="rect">
            <a:avLst/>
          </a:prstGeom>
          <a:noFill/>
        </p:spPr>
        <p:txBody>
          <a:bodyPr wrap="square" lIns="0" rIns="0" tIns="0" bIns="0" anchor="t">
            <a:spAutoFit/>
          </a:bodyPr>
          <a:lstStyle/>
          <a:p>
            <a:pPr algn="l">
              <a:lnSpc>
                <a:spcPct val="130000"/>
              </a:lnSpc>
              <a:spcBef>
                <a:spcPts val="0"/>
              </a:spcBef>
              <a:spcAft>
                <a:spcPts val="0"/>
              </a:spcAft>
            </a:pPr>
            <a:r>
              <a:rPr sz="1600" b="0">
                <a:solidFill>
                  <a:srgbClr val="B9C8DD"/>
                </a:solidFill>
                <a:latin typeface="Apple SD Gothic Neo"/>
                <a:ea typeface="Apple SD Gothic Neo"/>
              </a:rPr>
              <a:t>State · Node · 분기 · 반복</a:t>
            </a:r>
          </a:p>
          <a:p>
            <a:pPr algn="l">
              <a:lnSpc>
                <a:spcPct val="130000"/>
              </a:lnSpc>
              <a:spcBef>
                <a:spcPts val="0"/>
              </a:spcBef>
              <a:spcAft>
                <a:spcPts val="0"/>
              </a:spcAft>
            </a:pPr>
            <a:r>
              <a:rPr sz="1600" b="0">
                <a:solidFill>
                  <a:srgbClr val="B9C8DD"/>
                </a:solidFill>
                <a:latin typeface="Apple SD Gothic Neo"/>
                <a:ea typeface="Apple SD Gothic Neo"/>
              </a:rPr>
              <a:t>업무에 맞는 Agentic 흐름</a:t>
            </a:r>
          </a:p>
        </p:txBody>
      </p:sp>
      <p:sp>
        <p:nvSpPr>
          <p:cNvPr id="19" name="TextBox 18"/>
          <p:cNvSpPr txBox="1"/>
          <p:nvPr/>
        </p:nvSpPr>
        <p:spPr>
          <a:xfrm>
            <a:off x="3505200" y="5528733"/>
            <a:ext cx="2531533" cy="245533"/>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FFFFFF"/>
                </a:solidFill>
                <a:latin typeface="Arial"/>
                <a:ea typeface="Apple SD Gothic Neo"/>
              </a:rPr>
              <a:t>04 / 부록 12</a:t>
            </a:r>
          </a:p>
        </p:txBody>
      </p:sp>
      <p:cxnSp>
        <p:nvCxnSpPr>
          <p:cNvPr id="20" name="Connector 19"/>
          <p:cNvCxnSpPr/>
          <p:nvPr/>
        </p:nvCxnSpPr>
        <p:spPr>
          <a:xfrm>
            <a:off x="6197600" y="3293533"/>
            <a:ext cx="0" cy="2548467"/>
          </a:xfrm>
          <a:prstGeom prst="line">
            <a:avLst/>
          </a:prstGeom>
          <a:ln w="8466">
            <a:solidFill>
              <a:srgbClr val="38506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66933" y="3378200"/>
            <a:ext cx="2116666" cy="575733"/>
          </a:xfrm>
          <a:prstGeom prst="rect">
            <a:avLst/>
          </a:prstGeom>
          <a:noFill/>
        </p:spPr>
        <p:txBody>
          <a:bodyPr wrap="square" lIns="0" rIns="0" tIns="0" bIns="0" anchor="t">
            <a:spAutoFit/>
          </a:bodyPr>
          <a:lstStyle/>
          <a:p>
            <a:pPr algn="l">
              <a:lnSpc>
                <a:spcPct val="118000"/>
              </a:lnSpc>
              <a:spcBef>
                <a:spcPts val="0"/>
              </a:spcBef>
              <a:spcAft>
                <a:spcPts val="0"/>
              </a:spcAft>
            </a:pPr>
            <a:r>
              <a:rPr sz="3600" b="1">
                <a:solidFill>
                  <a:srgbClr val="FF6B35"/>
                </a:solidFill>
                <a:latin typeface="Arial"/>
                <a:ea typeface="Apple SD Gothic Neo"/>
              </a:rPr>
              <a:t>15</a:t>
            </a:r>
          </a:p>
        </p:txBody>
      </p:sp>
      <p:sp>
        <p:nvSpPr>
          <p:cNvPr id="22" name="TextBox 21"/>
          <p:cNvSpPr txBox="1"/>
          <p:nvPr/>
        </p:nvSpPr>
        <p:spPr>
          <a:xfrm>
            <a:off x="7061200" y="3598333"/>
            <a:ext cx="8466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B9C8DD"/>
                </a:solidFill>
                <a:latin typeface="Apple SD Gothic Neo"/>
                <a:ea typeface="Apple SD Gothic Neo"/>
              </a:rPr>
              <a:t>점 배점</a:t>
            </a:r>
          </a:p>
        </p:txBody>
      </p:sp>
      <p:sp>
        <p:nvSpPr>
          <p:cNvPr id="23" name="TextBox 22"/>
          <p:cNvSpPr txBox="1"/>
          <p:nvPr/>
        </p:nvSpPr>
        <p:spPr>
          <a:xfrm>
            <a:off x="6366933" y="4114800"/>
            <a:ext cx="2531533" cy="3556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FFFFFF"/>
                </a:solidFill>
                <a:latin typeface="Apple SD Gothic Neo"/>
                <a:ea typeface="Apple SD Gothic Neo"/>
              </a:rPr>
              <a:t>AI Agent 구현</a:t>
            </a:r>
          </a:p>
        </p:txBody>
      </p:sp>
      <p:sp>
        <p:nvSpPr>
          <p:cNvPr id="24" name="TextBox 23"/>
          <p:cNvSpPr txBox="1"/>
          <p:nvPr/>
        </p:nvSpPr>
        <p:spPr>
          <a:xfrm>
            <a:off x="6366933" y="4665133"/>
            <a:ext cx="2531533" cy="685800"/>
          </a:xfrm>
          <a:prstGeom prst="rect">
            <a:avLst/>
          </a:prstGeom>
          <a:noFill/>
        </p:spPr>
        <p:txBody>
          <a:bodyPr wrap="square" lIns="0" rIns="0" tIns="0" bIns="0" anchor="t">
            <a:spAutoFit/>
          </a:bodyPr>
          <a:lstStyle/>
          <a:p>
            <a:pPr algn="l">
              <a:lnSpc>
                <a:spcPct val="130000"/>
              </a:lnSpc>
              <a:spcBef>
                <a:spcPts val="0"/>
              </a:spcBef>
              <a:spcAft>
                <a:spcPts val="0"/>
              </a:spcAft>
            </a:pPr>
            <a:r>
              <a:rPr sz="1600" b="0">
                <a:solidFill>
                  <a:srgbClr val="B9C8DD"/>
                </a:solidFill>
                <a:latin typeface="Apple SD Gothic Neo"/>
                <a:ea typeface="Apple SD Gothic Neo"/>
              </a:rPr>
              <a:t>모델의 도구 선택과 근거</a:t>
            </a:r>
          </a:p>
          <a:p>
            <a:pPr algn="l">
              <a:lnSpc>
                <a:spcPct val="130000"/>
              </a:lnSpc>
              <a:spcBef>
                <a:spcPts val="0"/>
              </a:spcBef>
              <a:spcAft>
                <a:spcPts val="0"/>
              </a:spcAft>
            </a:pPr>
            <a:r>
              <a:rPr sz="1600" b="0">
                <a:solidFill>
                  <a:srgbClr val="B9C8DD"/>
                </a:solidFill>
                <a:latin typeface="Apple SD Gothic Neo"/>
                <a:ea typeface="Apple SD Gothic Neo"/>
              </a:rPr>
              <a:t>상태 저장 · 재개 · 이벤트</a:t>
            </a:r>
          </a:p>
        </p:txBody>
      </p:sp>
      <p:sp>
        <p:nvSpPr>
          <p:cNvPr id="25" name="TextBox 24"/>
          <p:cNvSpPr txBox="1"/>
          <p:nvPr/>
        </p:nvSpPr>
        <p:spPr>
          <a:xfrm>
            <a:off x="6366933" y="5528733"/>
            <a:ext cx="2531533" cy="245533"/>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FFFFFF"/>
                </a:solidFill>
                <a:latin typeface="Arial"/>
                <a:ea typeface="Apple SD Gothic Neo"/>
              </a:rPr>
              <a:t>05–06 / 10</a:t>
            </a:r>
          </a:p>
        </p:txBody>
      </p:sp>
      <p:cxnSp>
        <p:nvCxnSpPr>
          <p:cNvPr id="26" name="Connector 25"/>
          <p:cNvCxnSpPr/>
          <p:nvPr/>
        </p:nvCxnSpPr>
        <p:spPr>
          <a:xfrm>
            <a:off x="9059333" y="3293533"/>
            <a:ext cx="0" cy="2548467"/>
          </a:xfrm>
          <a:prstGeom prst="line">
            <a:avLst/>
          </a:prstGeom>
          <a:ln w="8466">
            <a:solidFill>
              <a:srgbClr val="38506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228666" y="3378200"/>
            <a:ext cx="2116666" cy="575733"/>
          </a:xfrm>
          <a:prstGeom prst="rect">
            <a:avLst/>
          </a:prstGeom>
          <a:noFill/>
        </p:spPr>
        <p:txBody>
          <a:bodyPr wrap="square" lIns="0" rIns="0" tIns="0" bIns="0" anchor="t">
            <a:spAutoFit/>
          </a:bodyPr>
          <a:lstStyle/>
          <a:p>
            <a:pPr algn="l">
              <a:lnSpc>
                <a:spcPct val="118000"/>
              </a:lnSpc>
              <a:spcBef>
                <a:spcPts val="0"/>
              </a:spcBef>
              <a:spcAft>
                <a:spcPts val="0"/>
              </a:spcAft>
            </a:pPr>
            <a:r>
              <a:rPr sz="3600" b="1">
                <a:solidFill>
                  <a:srgbClr val="FF6B35"/>
                </a:solidFill>
                <a:latin typeface="Arial"/>
                <a:ea typeface="Apple SD Gothic Neo"/>
              </a:rPr>
              <a:t>20</a:t>
            </a:r>
          </a:p>
        </p:txBody>
      </p:sp>
      <p:sp>
        <p:nvSpPr>
          <p:cNvPr id="28" name="TextBox 27"/>
          <p:cNvSpPr txBox="1"/>
          <p:nvPr/>
        </p:nvSpPr>
        <p:spPr>
          <a:xfrm>
            <a:off x="9922933" y="3598333"/>
            <a:ext cx="8466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B9C8DD"/>
                </a:solidFill>
                <a:latin typeface="Apple SD Gothic Neo"/>
                <a:ea typeface="Apple SD Gothic Neo"/>
              </a:rPr>
              <a:t>점 배점</a:t>
            </a:r>
          </a:p>
        </p:txBody>
      </p:sp>
      <p:sp>
        <p:nvSpPr>
          <p:cNvPr id="29" name="TextBox 28"/>
          <p:cNvSpPr txBox="1"/>
          <p:nvPr/>
        </p:nvSpPr>
        <p:spPr>
          <a:xfrm>
            <a:off x="9228666" y="4114800"/>
            <a:ext cx="2531533" cy="3556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FFFFFF"/>
                </a:solidFill>
                <a:latin typeface="Apple SD Gothic Neo"/>
                <a:ea typeface="Apple SD Gothic Neo"/>
              </a:rPr>
              <a:t>MCP 설계·구현</a:t>
            </a:r>
          </a:p>
        </p:txBody>
      </p:sp>
      <p:sp>
        <p:nvSpPr>
          <p:cNvPr id="30" name="TextBox 29"/>
          <p:cNvSpPr txBox="1"/>
          <p:nvPr/>
        </p:nvSpPr>
        <p:spPr>
          <a:xfrm>
            <a:off x="9228666" y="4665133"/>
            <a:ext cx="2531533" cy="685800"/>
          </a:xfrm>
          <a:prstGeom prst="rect">
            <a:avLst/>
          </a:prstGeom>
          <a:noFill/>
        </p:spPr>
        <p:txBody>
          <a:bodyPr wrap="square" lIns="0" rIns="0" tIns="0" bIns="0" anchor="t">
            <a:spAutoFit/>
          </a:bodyPr>
          <a:lstStyle/>
          <a:p>
            <a:pPr algn="l">
              <a:lnSpc>
                <a:spcPct val="130000"/>
              </a:lnSpc>
              <a:spcBef>
                <a:spcPts val="0"/>
              </a:spcBef>
              <a:spcAft>
                <a:spcPts val="0"/>
              </a:spcAft>
            </a:pPr>
            <a:r>
              <a:rPr sz="1600" b="0">
                <a:solidFill>
                  <a:srgbClr val="B9C8DD"/>
                </a:solidFill>
                <a:latin typeface="Apple SD Gothic Neo"/>
                <a:ea typeface="Apple SD Gothic Neo"/>
              </a:rPr>
              <a:t>업무 조회 · 변경 · RAG</a:t>
            </a:r>
          </a:p>
          <a:p>
            <a:pPr algn="l">
              <a:lnSpc>
                <a:spcPct val="130000"/>
              </a:lnSpc>
              <a:spcBef>
                <a:spcPts val="0"/>
              </a:spcBef>
              <a:spcAft>
                <a:spcPts val="0"/>
              </a:spcAft>
            </a:pPr>
            <a:r>
              <a:rPr sz="1600" b="0">
                <a:solidFill>
                  <a:srgbClr val="B9C8DD"/>
                </a:solidFill>
                <a:latin typeface="Apple SD Gothic Neo"/>
                <a:ea typeface="Apple SD Gothic Neo"/>
              </a:rPr>
              <a:t>연결 호출 · 예외 처리</a:t>
            </a:r>
          </a:p>
        </p:txBody>
      </p:sp>
      <p:sp>
        <p:nvSpPr>
          <p:cNvPr id="31" name="TextBox 30"/>
          <p:cNvSpPr txBox="1"/>
          <p:nvPr/>
        </p:nvSpPr>
        <p:spPr>
          <a:xfrm>
            <a:off x="9228666" y="5528733"/>
            <a:ext cx="2531533" cy="245533"/>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FFFFFF"/>
                </a:solidFill>
                <a:latin typeface="Arial"/>
                <a:ea typeface="Apple SD Gothic Neo"/>
              </a:rPr>
              <a:t>07–09 / 10</a:t>
            </a:r>
          </a:p>
        </p:txBody>
      </p:sp>
      <p:sp>
        <p:nvSpPr>
          <p:cNvPr id="32" name="TextBox 31"/>
          <p:cNvSpPr txBox="1"/>
          <p:nvPr/>
        </p:nvSpPr>
        <p:spPr>
          <a:xfrm>
            <a:off x="474133" y="6366933"/>
            <a:ext cx="11243733" cy="237066"/>
          </a:xfrm>
          <a:prstGeom prst="rect">
            <a:avLst/>
          </a:prstGeom>
          <a:noFill/>
        </p:spPr>
        <p:txBody>
          <a:bodyPr wrap="square" lIns="0" rIns="0" tIns="0" bIns="0" anchor="t">
            <a:spAutoFit/>
          </a:bodyPr>
          <a:lstStyle/>
          <a:p>
            <a:pPr algn="l">
              <a:lnSpc>
                <a:spcPct val="118000"/>
              </a:lnSpc>
              <a:spcBef>
                <a:spcPts val="0"/>
              </a:spcBef>
              <a:spcAft>
                <a:spcPts val="0"/>
              </a:spcAft>
            </a:pPr>
            <a:r>
              <a:rPr sz="1266" b="0">
                <a:solidFill>
                  <a:srgbClr val="B9C8DD"/>
                </a:solidFill>
                <a:latin typeface="Apple SD Gothic Neo"/>
                <a:ea typeface="Apple SD Gothic Neo"/>
              </a:rPr>
              <a:t>본편 10장 + 부록 3장  ·  수치는 배점이며, 자체 평가 점수나 ISO 인증을 의미하지 않습니다.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02. ARCHITECTURE  /  구성요소 · 책임 · 데이터 흐름</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아키텍처 구성과 설계 판단 근거</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아키텍처 설계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평가 기준: Biz. 아이템을 위한 전체 AI 아키텍처 설계 · 코드 근거의 전체 경로는 발표자 노트 참고</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02</a:t>
            </a:r>
          </a:p>
        </p:txBody>
      </p:sp>
      <p:sp>
        <p:nvSpPr>
          <p:cNvPr id="11" name="TextBox 10"/>
          <p:cNvSpPr txBox="1"/>
          <p:nvPr/>
        </p:nvSpPr>
        <p:spPr>
          <a:xfrm>
            <a:off x="474133" y="1159933"/>
            <a:ext cx="5469466" cy="321733"/>
          </a:xfrm>
          <a:prstGeom prst="rect">
            <a:avLst/>
          </a:prstGeom>
          <a:noFill/>
        </p:spPr>
        <p:txBody>
          <a:bodyPr wrap="square" lIns="0" rIns="0" tIns="0" bIns="0" anchor="t">
            <a:spAutoFit/>
          </a:bodyPr>
          <a:lstStyle/>
          <a:p>
            <a:pPr algn="l">
              <a:lnSpc>
                <a:spcPct val="118000"/>
              </a:lnSpc>
              <a:spcBef>
                <a:spcPts val="0"/>
              </a:spcBef>
              <a:spcAft>
                <a:spcPts val="0"/>
              </a:spcAft>
            </a:pPr>
            <a:r>
              <a:rPr sz="2000" b="1">
                <a:solidFill>
                  <a:srgbClr val="152840"/>
                </a:solidFill>
                <a:latin typeface="Apple SD Gothic Neo"/>
                <a:ea typeface="Apple SD Gothic Neo"/>
              </a:rPr>
              <a:t>구성요소와 책임 분리</a:t>
            </a:r>
          </a:p>
        </p:txBody>
      </p:sp>
      <p:sp>
        <p:nvSpPr>
          <p:cNvPr id="12" name="TextBox 11"/>
          <p:cNvSpPr txBox="1"/>
          <p:nvPr/>
        </p:nvSpPr>
        <p:spPr>
          <a:xfrm>
            <a:off x="6248400" y="1159933"/>
            <a:ext cx="5469466" cy="321733"/>
          </a:xfrm>
          <a:prstGeom prst="rect">
            <a:avLst/>
          </a:prstGeom>
          <a:noFill/>
        </p:spPr>
        <p:txBody>
          <a:bodyPr wrap="square" lIns="0" rIns="0" tIns="0" bIns="0" anchor="t">
            <a:spAutoFit/>
          </a:bodyPr>
          <a:lstStyle/>
          <a:p>
            <a:pPr algn="l">
              <a:lnSpc>
                <a:spcPct val="118000"/>
              </a:lnSpc>
              <a:spcBef>
                <a:spcPts val="0"/>
              </a:spcBef>
              <a:spcAft>
                <a:spcPts val="0"/>
              </a:spcAft>
            </a:pPr>
            <a:r>
              <a:rPr sz="2000" b="1">
                <a:solidFill>
                  <a:srgbClr val="152840"/>
                </a:solidFill>
                <a:latin typeface="Apple SD Gothic Neo"/>
                <a:ea typeface="Apple SD Gothic Neo"/>
              </a:rPr>
              <a:t>아키텍처 흐름과 설계 근거</a:t>
            </a:r>
          </a:p>
        </p:txBody>
      </p:sp>
      <p:graphicFrame>
        <p:nvGraphicFramePr>
          <p:cNvPr id="13" name="Table 12"/>
          <p:cNvGraphicFramePr>
            <a:graphicFrameLocks noGrp="1"/>
          </p:cNvGraphicFramePr>
          <p:nvPr/>
        </p:nvGraphicFramePr>
        <p:xfrm>
          <a:off x="474133" y="1574800"/>
          <a:ext cx="5469465" cy="4470397"/>
        </p:xfrm>
        <a:graphic>
          <a:graphicData uri="http://schemas.openxmlformats.org/drawingml/2006/table">
            <a:tbl>
              <a:tblPr firstRow="1">
                <a:tableStyleId>{5C22544A-7EE6-4342-B048-85BDC9FD1C3A}</a:tableStyleId>
              </a:tblPr>
              <a:tblGrid>
                <a:gridCol w="1024466"/>
                <a:gridCol w="1735666"/>
                <a:gridCol w="2709333"/>
              </a:tblGrid>
              <a:tr h="440266">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구분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실제 구성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담당 역할</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검사 진입</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Actions / CLI</a:t>
                      </a:r>
                    </a:p>
                    <a:p>
                      <a:pPr algn="l">
                        <a:lnSpc>
                          <a:spcPts val="1466"/>
                        </a:lnSpc>
                        <a:spcBef>
                          <a:spcPts val="0"/>
                        </a:spcBef>
                        <a:spcAft>
                          <a:spcPts val="0"/>
                        </a:spcAft>
                      </a:pPr>
                      <a:r>
                        <a:rPr sz="1333" b="0">
                          <a:solidFill>
                            <a:srgbClr val="152840"/>
                          </a:solidFill>
                          <a:latin typeface="Apple SD Gothic Neo"/>
                          <a:ea typeface="Apple SD Gothic Neo"/>
                        </a:rPr>
                        <a:t>Semgrep · AST</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정적 검사·변경 근거를 마스킹하고</a:t>
                      </a:r>
                    </a:p>
                    <a:p>
                      <a:pPr algn="l">
                        <a:lnSpc>
                          <a:spcPts val="1466"/>
                        </a:lnSpc>
                        <a:spcBef>
                          <a:spcPts val="0"/>
                        </a:spcBef>
                        <a:spcAft>
                          <a:spcPts val="0"/>
                        </a:spcAft>
                      </a:pPr>
                      <a:r>
                        <a:rPr sz="1333" b="0">
                          <a:solidFill>
                            <a:srgbClr val="152840"/>
                          </a:solidFill>
                          <a:latin typeface="Apple SD Gothic Neo"/>
                          <a:ea typeface="Apple SD Gothic Neo"/>
                        </a:rPr>
                        <a:t>HMAC으로 Backend에 접수한다.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웹 콘솔</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Vue 3</a:t>
                      </a:r>
                    </a:p>
                    <a:p>
                      <a:pPr algn="l">
                        <a:lnSpc>
                          <a:spcPts val="1466"/>
                        </a:lnSpc>
                        <a:spcBef>
                          <a:spcPts val="0"/>
                        </a:spcBef>
                        <a:spcAft>
                          <a:spcPts val="0"/>
                        </a:spcAft>
                      </a:pPr>
                      <a:r>
                        <a:rPr sz="1333" b="0">
                          <a:solidFill>
                            <a:srgbClr val="152840"/>
                          </a:solidFill>
                          <a:latin typeface="Apple SD Gothic Neo"/>
                          <a:ea typeface="Apple SD Gothic Neo"/>
                        </a:rPr>
                        <a:t>REST / SSE</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결과 조회·검토·승인 UI를 제공한다.</a:t>
                      </a:r>
                    </a:p>
                    <a:p>
                      <a:pPr algn="l">
                        <a:lnSpc>
                          <a:spcPts val="1466"/>
                        </a:lnSpc>
                        <a:spcBef>
                          <a:spcPts val="0"/>
                        </a:spcBef>
                        <a:spcAft>
                          <a:spcPts val="0"/>
                        </a:spcAft>
                      </a:pPr>
                      <a:r>
                        <a:rPr sz="1333" b="0">
                          <a:solidFill>
                            <a:srgbClr val="152840"/>
                          </a:solidFill>
                          <a:latin typeface="Apple SD Gothic Neo"/>
                          <a:ea typeface="Apple SD Gothic Neo"/>
                        </a:rPr>
                        <a:t>SSE 알림 후 REST로 재조회한다.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Backend</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Spring Boot</a:t>
                      </a:r>
                    </a:p>
                    <a:p>
                      <a:pPr algn="l">
                        <a:lnSpc>
                          <a:spcPts val="1466"/>
                        </a:lnSpc>
                        <a:spcBef>
                          <a:spcPts val="0"/>
                        </a:spcBef>
                        <a:spcAft>
                          <a:spcPts val="0"/>
                        </a:spcAft>
                      </a:pPr>
                      <a:r>
                        <a:rPr sz="1333" b="0">
                          <a:solidFill>
                            <a:srgbClr val="152840"/>
                          </a:solidFill>
                          <a:latin typeface="Apple SD Gothic Neo"/>
                          <a:ea typeface="Apple SD Gothic Neo"/>
                        </a:rPr>
                        <a:t>Security · Outbox</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인증·검사 접수·결과 검증을 맡고,</a:t>
                      </a:r>
                    </a:p>
                    <a:p>
                      <a:pPr algn="l">
                        <a:lnSpc>
                          <a:spcPts val="1466"/>
                        </a:lnSpc>
                        <a:spcBef>
                          <a:spcPts val="0"/>
                        </a:spcBef>
                        <a:spcAft>
                          <a:spcPts val="0"/>
                        </a:spcAft>
                      </a:pPr>
                      <a:r>
                        <a:rPr sz="1333" b="0">
                          <a:solidFill>
                            <a:srgbClr val="152840"/>
                          </a:solidFill>
                          <a:latin typeface="Apple SD Gothic Neo"/>
                          <a:ea typeface="Apple SD Gothic Neo"/>
                        </a:rPr>
                        <a:t>업무 데이터와 Outbox를 저장한다.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비동기 전달</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Kafka</a:t>
                      </a:r>
                    </a:p>
                    <a:p>
                      <a:pPr algn="l">
                        <a:lnSpc>
                          <a:spcPts val="1466"/>
                        </a:lnSpc>
                        <a:spcBef>
                          <a:spcPts val="0"/>
                        </a:spcBef>
                        <a:spcAft>
                          <a:spcPts val="0"/>
                        </a:spcAft>
                      </a:pPr>
                      <a:r>
                        <a:rPr sz="1333" b="0">
                          <a:solidFill>
                            <a:srgbClr val="152840"/>
                          </a:solidFill>
                          <a:latin typeface="Apple SD Gothic Neo"/>
                          <a:ea typeface="Apple SD Gothic Neo"/>
                        </a:rPr>
                        <a:t>검사·결과·진행·로그</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검사 접수와 장시간 분석을 분리하고,</a:t>
                      </a:r>
                    </a:p>
                    <a:p>
                      <a:pPr algn="l">
                        <a:lnSpc>
                          <a:spcPts val="1466"/>
                        </a:lnSpc>
                        <a:spcBef>
                          <a:spcPts val="0"/>
                        </a:spcBef>
                        <a:spcAft>
                          <a:spcPts val="0"/>
                        </a:spcAft>
                      </a:pPr>
                      <a:r>
                        <a:rPr sz="1333" b="0">
                          <a:solidFill>
                            <a:srgbClr val="152840"/>
                          </a:solidFill>
                          <a:latin typeface="Apple SD Gothic Neo"/>
                          <a:ea typeface="Apple SD Gothic Neo"/>
                        </a:rPr>
                        <a:t>승인 재개·결과·진행 로그를 전달한다.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Agent</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FastAPI · LangGraph</a:t>
                      </a:r>
                    </a:p>
                    <a:p>
                      <a:pPr algn="l">
                        <a:lnSpc>
                          <a:spcPts val="1466"/>
                        </a:lnSpc>
                        <a:spcBef>
                          <a:spcPts val="0"/>
                        </a:spcBef>
                        <a:spcAft>
                          <a:spcPts val="0"/>
                        </a:spcAft>
                      </a:pPr>
                      <a:r>
                        <a:rPr sz="1333" b="0">
                          <a:solidFill>
                            <a:srgbClr val="152840"/>
                          </a:solidFill>
                          <a:latin typeface="Apple SD Gothic Neo"/>
                          <a:ea typeface="Apple SD Gothic Neo"/>
                        </a:rPr>
                        <a:t>LLM API</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근거 조사·리뷰·상태 재개를 맡는다.</a:t>
                      </a:r>
                    </a:p>
                    <a:p>
                      <a:pPr algn="l">
                        <a:lnSpc>
                          <a:spcPts val="1466"/>
                        </a:lnSpc>
                        <a:spcBef>
                          <a:spcPts val="0"/>
                        </a:spcBef>
                        <a:spcAft>
                          <a:spcPts val="0"/>
                        </a:spcAft>
                      </a:pPr>
                      <a:r>
                        <a:rPr sz="1333" b="0">
                          <a:solidFill>
                            <a:srgbClr val="152840"/>
                          </a:solidFill>
                          <a:latin typeface="Apple SD Gothic Neo"/>
                          <a:ea typeface="Apple SD Gothic Neo"/>
                        </a:rPr>
                        <a:t>Red/Blue는 한 Agent의 내부 단계다.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MCP 서비스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business-mcp</a:t>
                      </a:r>
                    </a:p>
                    <a:p>
                      <a:pPr algn="l">
                        <a:lnSpc>
                          <a:spcPts val="1466"/>
                        </a:lnSpc>
                        <a:spcBef>
                          <a:spcPts val="0"/>
                        </a:spcBef>
                        <a:spcAft>
                          <a:spcPts val="0"/>
                        </a:spcAft>
                      </a:pPr>
                      <a:r>
                        <a:rPr sz="1333" b="0">
                          <a:solidFill>
                            <a:srgbClr val="152840"/>
                          </a:solidFill>
                          <a:latin typeface="Apple SD Gothic Neo"/>
                          <a:ea typeface="Apple SD Gothic Neo"/>
                        </a:rPr>
                        <a:t>rag-mcp</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업무는 Backend 내부 API로 접근하고,</a:t>
                      </a:r>
                    </a:p>
                    <a:p>
                      <a:pPr algn="l">
                        <a:lnSpc>
                          <a:spcPts val="1466"/>
                        </a:lnSpc>
                        <a:spcBef>
                          <a:spcPts val="0"/>
                        </a:spcBef>
                        <a:spcAft>
                          <a:spcPts val="0"/>
                        </a:spcAft>
                      </a:pPr>
                      <a:r>
                        <a:rPr sz="1333" b="0">
                          <a:solidFill>
                            <a:srgbClr val="152840"/>
                          </a:solidFill>
                          <a:latin typeface="Apple SD Gothic Neo"/>
                          <a:ea typeface="Apple SD Gothic Neo"/>
                        </a:rPr>
                        <a:t>문서 근거는 Qdrant에서 조회한다.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575733">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저장소</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PostgreSQL</a:t>
                      </a:r>
                    </a:p>
                    <a:p>
                      <a:pPr algn="l">
                        <a:lnSpc>
                          <a:spcPts val="1466"/>
                        </a:lnSpc>
                        <a:spcBef>
                          <a:spcPts val="0"/>
                        </a:spcBef>
                        <a:spcAft>
                          <a:spcPts val="0"/>
                        </a:spcAft>
                      </a:pPr>
                      <a:r>
                        <a:rPr sz="1333" b="0">
                          <a:solidFill>
                            <a:srgbClr val="152840"/>
                          </a:solidFill>
                          <a:latin typeface="Apple SD Gothic Neo"/>
                          <a:ea typeface="Apple SD Gothic Neo"/>
                        </a:rPr>
                        <a:t>Qdrant</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업무 기록·checkpoint는 PostgreSQL,</a:t>
                      </a:r>
                    </a:p>
                    <a:p>
                      <a:pPr algn="l">
                        <a:lnSpc>
                          <a:spcPts val="1466"/>
                        </a:lnSpc>
                        <a:spcBef>
                          <a:spcPts val="0"/>
                        </a:spcBef>
                        <a:spcAft>
                          <a:spcPts val="0"/>
                        </a:spcAft>
                      </a:pPr>
                      <a:r>
                        <a:rPr sz="1333" b="0">
                          <a:solidFill>
                            <a:srgbClr val="152840"/>
                          </a:solidFill>
                          <a:latin typeface="Apple SD Gothic Neo"/>
                          <a:ea typeface="Apple SD Gothic Neo"/>
                        </a:rPr>
                        <a:t>문서 벡터는 Qdrant에 저장한다.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bl>
          </a:graphicData>
        </a:graphic>
      </p:graphicFrame>
      <p:graphicFrame>
        <p:nvGraphicFramePr>
          <p:cNvPr id="14" name="Table 13"/>
          <p:cNvGraphicFramePr>
            <a:graphicFrameLocks noGrp="1"/>
          </p:cNvGraphicFramePr>
          <p:nvPr/>
        </p:nvGraphicFramePr>
        <p:xfrm>
          <a:off x="6248400" y="1574800"/>
          <a:ext cx="5469466" cy="4453462"/>
        </p:xfrm>
        <a:graphic>
          <a:graphicData uri="http://schemas.openxmlformats.org/drawingml/2006/table">
            <a:tbl>
              <a:tblPr firstRow="1">
                <a:tableStyleId>{5C22544A-7EE6-4342-B048-85BDC9FD1C3A}</a:tableStyleId>
              </a:tblPr>
              <a:tblGrid>
                <a:gridCol w="1126066"/>
                <a:gridCol w="3733800"/>
                <a:gridCol w="609600"/>
              </a:tblGrid>
              <a:tr h="440266">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평가 관점</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설계 내용과 판단 근거</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근거</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업무 목표와</a:t>
                      </a:r>
                    </a:p>
                    <a:p>
                      <a:pPr algn="l">
                        <a:lnSpc>
                          <a:spcPts val="1466"/>
                        </a:lnSpc>
                        <a:spcBef>
                          <a:spcPts val="0"/>
                        </a:spcBef>
                        <a:spcAft>
                          <a:spcPts val="0"/>
                        </a:spcAft>
                      </a:pPr>
                      <a:r>
                        <a:rPr sz="1333" b="0">
                          <a:solidFill>
                            <a:srgbClr val="152840"/>
                          </a:solidFill>
                          <a:latin typeface="Apple SD Gothic Neo"/>
                          <a:ea typeface="Apple SD Gothic Neo"/>
                        </a:rPr>
                        <a:t>전체 AI 구조</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코드 변경 → 정적 근거 → 정책·문서 대조 → 리뷰.</a:t>
                      </a:r>
                    </a:p>
                    <a:p>
                      <a:pPr algn="l">
                        <a:lnSpc>
                          <a:spcPts val="1466"/>
                        </a:lnSpc>
                        <a:spcBef>
                          <a:spcPts val="0"/>
                        </a:spcBef>
                        <a:spcAft>
                          <a:spcPts val="0"/>
                        </a:spcAft>
                      </a:pPr>
                      <a:r>
                        <a:rPr sz="1333" b="0">
                          <a:solidFill>
                            <a:srgbClr val="152840"/>
                          </a:solidFill>
                          <a:latin typeface="Apple SD Gothic Neo"/>
                          <a:ea typeface="Apple SD Gothic Neo"/>
                        </a:rPr>
                        <a:t>실제 수집·승인 여부는 미확인 사항으로 구분한다.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D, G</a:t>
                      </a:r>
                    </a:p>
                    <a:p>
                      <a:pPr algn="ctr">
                        <a:lnSpc>
                          <a:spcPts val="1466"/>
                        </a:lnSpc>
                        <a:spcBef>
                          <a:spcPts val="0"/>
                        </a:spcBef>
                        <a:spcAft>
                          <a:spcPts val="0"/>
                        </a:spcAft>
                      </a:pPr>
                      <a:r>
                        <a:rPr sz="1333" b="0">
                          <a:solidFill>
                            <a:srgbClr val="152840"/>
                          </a:solidFill>
                          <a:latin typeface="Apple SD Gothic Neo"/>
                          <a:ea typeface="Apple SD Gothic Neo"/>
                        </a:rPr>
                        <a:t>M</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비동기 처리와</a:t>
                      </a:r>
                    </a:p>
                    <a:p>
                      <a:pPr algn="l">
                        <a:lnSpc>
                          <a:spcPts val="1466"/>
                        </a:lnSpc>
                        <a:spcBef>
                          <a:spcPts val="0"/>
                        </a:spcBef>
                        <a:spcAft>
                          <a:spcPts val="0"/>
                        </a:spcAft>
                      </a:pPr>
                      <a:r>
                        <a:rPr sz="1333" b="0">
                          <a:solidFill>
                            <a:srgbClr val="152840"/>
                          </a:solidFill>
                          <a:latin typeface="Apple SD Gothic Neo"/>
                          <a:ea typeface="Apple SD Gothic Neo"/>
                        </a:rPr>
                        <a:t>결과 정합성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검사·Outbox를 함께 저장한 뒤 202를 반환한다.</a:t>
                      </a:r>
                    </a:p>
                    <a:p>
                      <a:pPr algn="l">
                        <a:lnSpc>
                          <a:spcPts val="1466"/>
                        </a:lnSpc>
                        <a:spcBef>
                          <a:spcPts val="0"/>
                        </a:spcBef>
                        <a:spcAft>
                          <a:spcPts val="0"/>
                        </a:spcAft>
                      </a:pPr>
                      <a:r>
                        <a:rPr sz="1333" b="0">
                          <a:solidFill>
                            <a:srgbClr val="152840"/>
                          </a:solidFill>
                          <a:latin typeface="Apple SD Gothic Neo"/>
                          <a:ea typeface="Apple SD Gothic Neo"/>
                        </a:rPr>
                        <a:t>Kafka 결과를 Backend가 검증·저장하고</a:t>
                      </a:r>
                    </a:p>
                    <a:p>
                      <a:pPr algn="l">
                        <a:lnSpc>
                          <a:spcPts val="1466"/>
                        </a:lnSpc>
                        <a:spcBef>
                          <a:spcPts val="0"/>
                        </a:spcBef>
                        <a:spcAft>
                          <a:spcPts val="0"/>
                        </a:spcAft>
                      </a:pPr>
                      <a:r>
                        <a:rPr sz="1333" b="0">
                          <a:solidFill>
                            <a:srgbClr val="152840"/>
                          </a:solidFill>
                          <a:latin typeface="Apple SD Gothic Neo"/>
                          <a:ea typeface="Apple SD Gothic Neo"/>
                        </a:rPr>
                        <a:t>SSE로 갱신을 알려 Vue가 REST로 재조회한다.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I, K</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승인과</a:t>
                      </a:r>
                    </a:p>
                    <a:p>
                      <a:pPr algn="l">
                        <a:lnSpc>
                          <a:spcPts val="1466"/>
                        </a:lnSpc>
                        <a:spcBef>
                          <a:spcPts val="0"/>
                        </a:spcBef>
                        <a:spcAft>
                          <a:spcPts val="0"/>
                        </a:spcAft>
                      </a:pPr>
                      <a:r>
                        <a:rPr sz="1333" b="0">
                          <a:solidFill>
                            <a:srgbClr val="152840"/>
                          </a:solidFill>
                          <a:latin typeface="Apple SD Gothic Neo"/>
                          <a:ea typeface="Apple SD Gothic Neo"/>
                        </a:rPr>
                        <a:t>상태 재개</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결정·Outbox 저장 후 기존 scan.request로 전달한다.</a:t>
                      </a:r>
                    </a:p>
                    <a:p>
                      <a:pPr algn="l">
                        <a:lnSpc>
                          <a:spcPts val="1466"/>
                        </a:lnSpc>
                        <a:spcBef>
                          <a:spcPts val="0"/>
                        </a:spcBef>
                        <a:spcAft>
                          <a:spcPts val="0"/>
                        </a:spcAft>
                      </a:pPr>
                      <a:r>
                        <a:rPr sz="1333" b="0">
                          <a:solidFill>
                            <a:srgbClr val="152840"/>
                          </a:solidFill>
                          <a:latin typeface="Apple SD Gothic Neo"/>
                          <a:ea typeface="Apple SD Gothic Neo"/>
                        </a:rPr>
                        <a:t>Agent가 영속 승인 상태를 재조회하고</a:t>
                      </a:r>
                    </a:p>
                    <a:p>
                      <a:pPr algn="l">
                        <a:lnSpc>
                          <a:spcPts val="1466"/>
                        </a:lnSpc>
                        <a:spcBef>
                          <a:spcPts val="0"/>
                        </a:spcBef>
                        <a:spcAft>
                          <a:spcPts val="0"/>
                        </a:spcAft>
                      </a:pPr>
                      <a:r>
                        <a:rPr sz="1333" b="0">
                          <a:solidFill>
                            <a:srgbClr val="152840"/>
                          </a:solidFill>
                          <a:latin typeface="Apple SD Gothic Neo"/>
                          <a:ea typeface="Apple SD Gothic Neo"/>
                        </a:rPr>
                        <a:t>같은 scanId의 checkpoint를 재개한다.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C, A</a:t>
                      </a:r>
                    </a:p>
                    <a:p>
                      <a:pPr algn="ctr">
                        <a:lnSpc>
                          <a:spcPts val="1466"/>
                        </a:lnSpc>
                        <a:spcBef>
                          <a:spcPts val="0"/>
                        </a:spcBef>
                        <a:spcAft>
                          <a:spcPts val="0"/>
                        </a:spcAft>
                      </a:pPr>
                      <a:r>
                        <a:rPr sz="1333" b="0">
                          <a:solidFill>
                            <a:srgbClr val="152840"/>
                          </a:solidFill>
                          <a:latin typeface="Apple SD Gothic Neo"/>
                          <a:ea typeface="Apple SD Gothic Neo"/>
                        </a:rPr>
                        <a:t>G</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실패와</a:t>
                      </a:r>
                    </a:p>
                    <a:p>
                      <a:pPr algn="l">
                        <a:lnSpc>
                          <a:spcPts val="1466"/>
                        </a:lnSpc>
                        <a:spcBef>
                          <a:spcPts val="0"/>
                        </a:spcBef>
                        <a:spcAft>
                          <a:spcPts val="0"/>
                        </a:spcAft>
                      </a:pPr>
                      <a:r>
                        <a:rPr sz="1333" b="0">
                          <a:solidFill>
                            <a:srgbClr val="152840"/>
                          </a:solidFill>
                          <a:latin typeface="Apple SD Gothic Neo"/>
                          <a:ea typeface="Apple SD Gothic Neo"/>
                        </a:rPr>
                        <a:t>중복 전달</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멱등 처리와 유한 재시도를 적용한다.</a:t>
                      </a:r>
                    </a:p>
                    <a:p>
                      <a:pPr algn="l">
                        <a:lnSpc>
                          <a:spcPts val="1466"/>
                        </a:lnSpc>
                        <a:spcBef>
                          <a:spcPts val="0"/>
                        </a:spcBef>
                        <a:spcAft>
                          <a:spcPts val="0"/>
                        </a:spcAft>
                      </a:pPr>
                      <a:r>
                        <a:rPr sz="1333" b="0">
                          <a:solidFill>
                            <a:srgbClr val="152840"/>
                          </a:solidFill>
                          <a:latin typeface="Apple SD Gothic Neo"/>
                          <a:ea typeface="Apple SD Gothic Neo"/>
                        </a:rPr>
                        <a:t>Outbox 최대 3회·Worker 2회·소비 초기+2회.</a:t>
                      </a:r>
                    </a:p>
                    <a:p>
                      <a:pPr algn="l">
                        <a:lnSpc>
                          <a:spcPts val="1466"/>
                        </a:lnSpc>
                        <a:spcBef>
                          <a:spcPts val="0"/>
                        </a:spcBef>
                        <a:spcAft>
                          <a:spcPts val="0"/>
                        </a:spcAft>
                      </a:pPr>
                      <a:r>
                        <a:rPr sz="1333" b="0">
                          <a:solidFill>
                            <a:srgbClr val="152840"/>
                          </a:solidFill>
                          <a:latin typeface="Apple SD Gothic Neo"/>
                          <a:ea typeface="Apple SD Gothic Neo"/>
                        </a:rPr>
                        <a:t>위치에 따라 실패 기록 또는 DLQ/DLT로 보낸다.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I, K</a:t>
                      </a:r>
                    </a:p>
                    <a:p>
                      <a:pPr algn="ctr">
                        <a:lnSpc>
                          <a:spcPts val="1466"/>
                        </a:lnSpc>
                        <a:spcBef>
                          <a:spcPts val="0"/>
                        </a:spcBef>
                        <a:spcAft>
                          <a:spcPts val="0"/>
                        </a:spcAft>
                      </a:pPr>
                      <a:r>
                        <a:rPr sz="1333" b="0">
                          <a:solidFill>
                            <a:srgbClr val="152840"/>
                          </a:solidFill>
                          <a:latin typeface="Apple SD Gothic Neo"/>
                          <a:ea typeface="Apple SD Gothic Neo"/>
                        </a:rPr>
                        <a:t>A</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인증과</a:t>
                      </a:r>
                    </a:p>
                    <a:p>
                      <a:pPr algn="l">
                        <a:lnSpc>
                          <a:spcPts val="1466"/>
                        </a:lnSpc>
                        <a:spcBef>
                          <a:spcPts val="0"/>
                        </a:spcBef>
                        <a:spcAft>
                          <a:spcPts val="0"/>
                        </a:spcAft>
                      </a:pPr>
                      <a:r>
                        <a:rPr sz="1333" b="0">
                          <a:solidFill>
                            <a:srgbClr val="152840"/>
                          </a:solidFill>
                          <a:latin typeface="Apple SD Gothic Neo"/>
                          <a:ea typeface="Apple SD Gothic Neo"/>
                        </a:rPr>
                        <a:t>데이터 경계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세션·CSRF / HMAC / Bearer를 분리한다.</a:t>
                      </a:r>
                    </a:p>
                    <a:p>
                      <a:pPr algn="l">
                        <a:lnSpc>
                          <a:spcPts val="1466"/>
                        </a:lnSpc>
                        <a:spcBef>
                          <a:spcPts val="0"/>
                        </a:spcBef>
                        <a:spcAft>
                          <a:spcPts val="0"/>
                        </a:spcAft>
                      </a:pPr>
                      <a:r>
                        <a:rPr sz="1333" b="0">
                          <a:solidFill>
                            <a:srgbClr val="152840"/>
                          </a:solidFill>
                          <a:latin typeface="Apple SD Gothic Neo"/>
                          <a:ea typeface="Apple SD Gothic Neo"/>
                        </a:rPr>
                        <a:t>business-mcp는 업무 DB에 직접 쓰지 않는다.</a:t>
                      </a:r>
                    </a:p>
                    <a:p>
                      <a:pPr algn="l">
                        <a:lnSpc>
                          <a:spcPts val="1466"/>
                        </a:lnSpc>
                        <a:spcBef>
                          <a:spcPts val="0"/>
                        </a:spcBef>
                        <a:spcAft>
                          <a:spcPts val="0"/>
                        </a:spcAft>
                      </a:pPr>
                      <a:r>
                        <a:rPr sz="1333" b="0">
                          <a:solidFill>
                            <a:srgbClr val="152840"/>
                          </a:solidFill>
                          <a:latin typeface="Apple SD Gothic Neo"/>
                          <a:ea typeface="Apple SD Gothic Neo"/>
                        </a:rPr>
                        <a:t>승인 후 변경은 CSI 내부 이슈 생성으로 제한한다.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S, I</a:t>
                      </a:r>
                    </a:p>
                    <a:p>
                      <a:pPr algn="ctr">
                        <a:lnSpc>
                          <a:spcPts val="1466"/>
                        </a:lnSpc>
                        <a:spcBef>
                          <a:spcPts val="0"/>
                        </a:spcBef>
                        <a:spcAft>
                          <a:spcPts val="0"/>
                        </a:spcAft>
                      </a:pPr>
                      <a:r>
                        <a:rPr sz="1333" b="0">
                          <a:solidFill>
                            <a:srgbClr val="152840"/>
                          </a:solidFill>
                          <a:latin typeface="Apple SD Gothic Neo"/>
                          <a:ea typeface="Apple SD Gothic Neo"/>
                        </a:rPr>
                        <a:t>C, M</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668866">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품질과</a:t>
                      </a:r>
                    </a:p>
                    <a:p>
                      <a:pPr algn="l">
                        <a:lnSpc>
                          <a:spcPts val="1466"/>
                        </a:lnSpc>
                        <a:spcBef>
                          <a:spcPts val="0"/>
                        </a:spcBef>
                        <a:spcAft>
                          <a:spcPts val="0"/>
                        </a:spcAft>
                      </a:pPr>
                      <a:r>
                        <a:rPr sz="1333" b="0">
                          <a:solidFill>
                            <a:srgbClr val="152840"/>
                          </a:solidFill>
                          <a:latin typeface="Apple SD Gothic Neo"/>
                          <a:ea typeface="Apple SD Gothic Neo"/>
                        </a:rPr>
                        <a:t>검증 범위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품질 9특성을 요구사항 → 설계 → 검증에 연결한다.</a:t>
                      </a:r>
                    </a:p>
                    <a:p>
                      <a:pPr algn="l">
                        <a:lnSpc>
                          <a:spcPts val="1466"/>
                        </a:lnSpc>
                        <a:spcBef>
                          <a:spcPts val="0"/>
                        </a:spcBef>
                        <a:spcAft>
                          <a:spcPts val="0"/>
                        </a:spcAft>
                      </a:pPr>
                      <a:r>
                        <a:rPr sz="1333" b="0">
                          <a:solidFill>
                            <a:srgbClr val="152840"/>
                          </a:solidFill>
                          <a:latin typeface="Apple SD Gothic Neo"/>
                          <a:ea typeface="Apple SD Gothic Neo"/>
                        </a:rPr>
                        <a:t>샘플 통과와 성능·정확도의 정량 평가를 구분한다.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D, T</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bl>
          </a:graphicData>
        </a:graphic>
      </p:graphicFrame>
      <p:sp>
        <p:nvSpPr>
          <p:cNvPr id="15" name="TextBox 14"/>
          <p:cNvSpPr txBox="1"/>
          <p:nvPr/>
        </p:nvSpPr>
        <p:spPr>
          <a:xfrm>
            <a:off x="474133" y="6138333"/>
            <a:ext cx="11243733" cy="160866"/>
          </a:xfrm>
          <a:prstGeom prst="rect">
            <a:avLst/>
          </a:prstGeom>
          <a:noFill/>
        </p:spPr>
        <p:txBody>
          <a:bodyPr wrap="square" lIns="0" rIns="0" tIns="0" bIns="0" anchor="t">
            <a:spAutoFit/>
          </a:bodyPr>
          <a:lstStyle/>
          <a:p>
            <a:pPr algn="l">
              <a:lnSpc>
                <a:spcPct val="118000"/>
              </a:lnSpc>
              <a:spcBef>
                <a:spcPts val="0"/>
              </a:spcBef>
              <a:spcAft>
                <a:spcPts val="0"/>
              </a:spcAft>
            </a:pPr>
            <a:r>
              <a:rPr sz="1000" b="0">
                <a:solidFill>
                  <a:srgbClr val="64748B"/>
                </a:solidFill>
                <a:latin typeface="Apple SD Gothic Neo"/>
                <a:ea typeface="Apple SD Gothic Neo"/>
              </a:rPr>
              <a:t>근거  D ARCHITECTURE.md   I Intake.java   K KafkaPipeline.java   C ApiController.java   S Security.java</a:t>
            </a:r>
          </a:p>
        </p:txBody>
      </p:sp>
      <p:sp>
        <p:nvSpPr>
          <p:cNvPr id="16" name="TextBox 15"/>
          <p:cNvSpPr txBox="1"/>
          <p:nvPr/>
        </p:nvSpPr>
        <p:spPr>
          <a:xfrm>
            <a:off x="474133" y="6316133"/>
            <a:ext cx="11243733" cy="160866"/>
          </a:xfrm>
          <a:prstGeom prst="rect">
            <a:avLst/>
          </a:prstGeom>
          <a:noFill/>
        </p:spPr>
        <p:txBody>
          <a:bodyPr wrap="square" lIns="0" rIns="0" tIns="0" bIns="0" anchor="t">
            <a:spAutoFit/>
          </a:bodyPr>
          <a:lstStyle/>
          <a:p>
            <a:pPr algn="l">
              <a:lnSpc>
                <a:spcPct val="118000"/>
              </a:lnSpc>
              <a:spcBef>
                <a:spcPts val="0"/>
              </a:spcBef>
              <a:spcAft>
                <a:spcPts val="0"/>
              </a:spcAft>
            </a:pPr>
            <a:r>
              <a:rPr sz="1000" b="0">
                <a:solidFill>
                  <a:srgbClr val="64748B"/>
                </a:solidFill>
                <a:latin typeface="Apple SD Gothic Neo"/>
                <a:ea typeface="Apple SD Gothic Neo"/>
              </a:rPr>
              <a:t>        G graph.py   A app.py   M business.py / rag.py   T 테스트·통합 기록  ·  전체 파일 경로와 예외 사항은 발표자 노트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02. ARCHITECTURE  /  ISO/IEC 25010:2023 대응</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품질 기준을 반영한 아키텍처 설계</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아키텍처 설계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평가 기준: ISO/IEC 25010 품질평가를 고려한 아키텍처 설계 · 상세 요구사항·코드·검증은 ARCHITECTURE.md</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03</a:t>
            </a:r>
          </a:p>
        </p:txBody>
      </p:sp>
      <p:sp>
        <p:nvSpPr>
          <p:cNvPr id="11" name="TextBox 10"/>
          <p:cNvSpPr txBox="1"/>
          <p:nvPr/>
        </p:nvSpPr>
        <p:spPr>
          <a:xfrm>
            <a:off x="474133" y="1159933"/>
            <a:ext cx="5469466" cy="321733"/>
          </a:xfrm>
          <a:prstGeom prst="rect">
            <a:avLst/>
          </a:prstGeom>
          <a:noFill/>
        </p:spPr>
        <p:txBody>
          <a:bodyPr wrap="square" lIns="0" rIns="0" tIns="0" bIns="0" anchor="t">
            <a:spAutoFit/>
          </a:bodyPr>
          <a:lstStyle/>
          <a:p>
            <a:pPr algn="l">
              <a:lnSpc>
                <a:spcPct val="118000"/>
              </a:lnSpc>
              <a:spcBef>
                <a:spcPts val="0"/>
              </a:spcBef>
              <a:spcAft>
                <a:spcPts val="0"/>
              </a:spcAft>
            </a:pPr>
            <a:r>
              <a:rPr sz="2000" b="1">
                <a:solidFill>
                  <a:srgbClr val="152840"/>
                </a:solidFill>
                <a:latin typeface="Apple SD Gothic Neo"/>
                <a:ea typeface="Apple SD Gothic Neo"/>
              </a:rPr>
              <a:t>핵심 품질 요구와 설계</a:t>
            </a:r>
          </a:p>
        </p:txBody>
      </p:sp>
      <p:sp>
        <p:nvSpPr>
          <p:cNvPr id="12" name="TextBox 11"/>
          <p:cNvSpPr txBox="1"/>
          <p:nvPr/>
        </p:nvSpPr>
        <p:spPr>
          <a:xfrm>
            <a:off x="6248400" y="1159933"/>
            <a:ext cx="5469466" cy="321733"/>
          </a:xfrm>
          <a:prstGeom prst="rect">
            <a:avLst/>
          </a:prstGeom>
          <a:noFill/>
        </p:spPr>
        <p:txBody>
          <a:bodyPr wrap="square" lIns="0" rIns="0" tIns="0" bIns="0" anchor="t">
            <a:spAutoFit/>
          </a:bodyPr>
          <a:lstStyle/>
          <a:p>
            <a:pPr algn="l">
              <a:lnSpc>
                <a:spcPct val="118000"/>
              </a:lnSpc>
              <a:spcBef>
                <a:spcPts val="0"/>
              </a:spcBef>
              <a:spcAft>
                <a:spcPts val="0"/>
              </a:spcAft>
            </a:pPr>
            <a:r>
              <a:rPr sz="2000" b="1">
                <a:solidFill>
                  <a:srgbClr val="152840"/>
                </a:solidFill>
                <a:latin typeface="Apple SD Gothic Neo"/>
                <a:ea typeface="Apple SD Gothic Neo"/>
              </a:rPr>
              <a:t>운영·확장 품질과 검증 범위</a:t>
            </a:r>
          </a:p>
        </p:txBody>
      </p:sp>
      <p:graphicFrame>
        <p:nvGraphicFramePr>
          <p:cNvPr id="13" name="Table 12"/>
          <p:cNvGraphicFramePr>
            <a:graphicFrameLocks noGrp="1"/>
          </p:cNvGraphicFramePr>
          <p:nvPr/>
        </p:nvGraphicFramePr>
        <p:xfrm>
          <a:off x="474133" y="1574800"/>
          <a:ext cx="5469466" cy="4504266"/>
        </p:xfrm>
        <a:graphic>
          <a:graphicData uri="http://schemas.openxmlformats.org/drawingml/2006/table">
            <a:tbl>
              <a:tblPr firstRow="1">
                <a:tableStyleId>{5C22544A-7EE6-4342-B048-85BDC9FD1C3A}</a:tableStyleId>
              </a:tblPr>
              <a:tblGrid>
                <a:gridCol w="1159933"/>
                <a:gridCol w="3606800"/>
                <a:gridCol w="702733"/>
              </a:tblGrid>
              <a:tr h="440266">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품질 기준</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설계 내용과 확인 범위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근거</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기능 적합성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실제 Finding·정적 사실·인용 ID를 검증한다.</a:t>
                      </a:r>
                    </a:p>
                    <a:p>
                      <a:pPr algn="l">
                        <a:lnSpc>
                          <a:spcPts val="1466"/>
                        </a:lnSpc>
                        <a:spcBef>
                          <a:spcPts val="0"/>
                        </a:spcBef>
                        <a:spcAft>
                          <a:spcPts val="0"/>
                        </a:spcAft>
                      </a:pPr>
                      <a:r>
                        <a:rPr sz="1333" b="0">
                          <a:solidFill>
                            <a:srgbClr val="152840"/>
                          </a:solidFill>
                          <a:latin typeface="Apple SD Gothic Neo"/>
                          <a:ea typeface="Apple SD Gothic Neo"/>
                        </a:rPr>
                        <a:t>가짜 근거 거부와 샘플 검사를 확인했으나,</a:t>
                      </a:r>
                    </a:p>
                    <a:p>
                      <a:pPr algn="l">
                        <a:lnSpc>
                          <a:spcPts val="1466"/>
                        </a:lnSpc>
                        <a:spcBef>
                          <a:spcPts val="0"/>
                        </a:spcBef>
                        <a:spcAft>
                          <a:spcPts val="0"/>
                        </a:spcAft>
                      </a:pPr>
                      <a:r>
                        <a:rPr sz="1333" b="0">
                          <a:solidFill>
                            <a:srgbClr val="152840"/>
                          </a:solidFill>
                          <a:latin typeface="Apple SD Gothic Neo"/>
                          <a:ea typeface="Apple SD Gothic Neo"/>
                        </a:rPr>
                        <a:t>대표 데이터셋의 오탐·미탐은 미측정이다.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QA-01</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성능 효율성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202 비동기 접수와 모델·도구 예산을 적용한다.</a:t>
                      </a:r>
                    </a:p>
                    <a:p>
                      <a:pPr algn="l">
                        <a:lnSpc>
                          <a:spcPts val="1466"/>
                        </a:lnSpc>
                        <a:spcBef>
                          <a:spcPts val="0"/>
                        </a:spcBef>
                        <a:spcAft>
                          <a:spcPts val="0"/>
                        </a:spcAft>
                      </a:pPr>
                      <a:r>
                        <a:rPr sz="1333" b="0">
                          <a:solidFill>
                            <a:srgbClr val="152840"/>
                          </a:solidFill>
                          <a:latin typeface="Apple SD Gothic Neo"/>
                          <a:ea typeface="Apple SD Gothic Neo"/>
                        </a:rPr>
                        <a:t>반복·입력·호출 제한은 테스트했으나,</a:t>
                      </a:r>
                    </a:p>
                    <a:p>
                      <a:pPr algn="l">
                        <a:lnSpc>
                          <a:spcPts val="1466"/>
                        </a:lnSpc>
                        <a:spcBef>
                          <a:spcPts val="0"/>
                        </a:spcBef>
                        <a:spcAft>
                          <a:spcPts val="0"/>
                        </a:spcAft>
                      </a:pPr>
                      <a:r>
                        <a:rPr sz="1333" b="0">
                          <a:solidFill>
                            <a:srgbClr val="152840"/>
                          </a:solidFill>
                          <a:latin typeface="Apple SD Gothic Neo"/>
                          <a:ea typeface="Apple SD Gothic Neo"/>
                        </a:rPr>
                        <a:t>p95 지연·처리량·실제 비용은 미측정이다.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QA-02</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신뢰성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Outbox·멱등성·checkpoint·유한 재시도 적용.</a:t>
                      </a:r>
                    </a:p>
                    <a:p>
                      <a:pPr algn="l">
                        <a:lnSpc>
                          <a:spcPts val="1466"/>
                        </a:lnSpc>
                        <a:spcBef>
                          <a:spcPts val="0"/>
                        </a:spcBef>
                        <a:spcAft>
                          <a:spcPts val="0"/>
                        </a:spcAft>
                      </a:pPr>
                      <a:r>
                        <a:rPr sz="1333" b="0">
                          <a:solidFill>
                            <a:srgbClr val="152840"/>
                          </a:solidFill>
                          <a:latin typeface="Apple SD Gothic Neo"/>
                          <a:ea typeface="Apple SD Gothic Neo"/>
                        </a:rPr>
                        <a:t>승인·중복·Kafka 장애의 실행 기록이 있다.</a:t>
                      </a:r>
                    </a:p>
                    <a:p>
                      <a:pPr algn="l">
                        <a:lnSpc>
                          <a:spcPts val="1466"/>
                        </a:lnSpc>
                        <a:spcBef>
                          <a:spcPts val="0"/>
                        </a:spcBef>
                        <a:spcAft>
                          <a:spcPts val="0"/>
                        </a:spcAft>
                      </a:pPr>
                      <a:r>
                        <a:rPr sz="1333" b="0">
                          <a:solidFill>
                            <a:srgbClr val="152840"/>
                          </a:solidFill>
                          <a:latin typeface="Apple SD Gothic Neo"/>
                          <a:ea typeface="Apple SD Gothic Neo"/>
                        </a:rPr>
                        <a:t>강제 종료 후 복구·대규모 부하는 미검증이다.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QA-05</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보안성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인증 경계·마스킹·읽기 도구 allowlist를 둔다.</a:t>
                      </a:r>
                    </a:p>
                    <a:p>
                      <a:pPr algn="l">
                        <a:lnSpc>
                          <a:spcPts val="1466"/>
                        </a:lnSpc>
                        <a:spcBef>
                          <a:spcPts val="0"/>
                        </a:spcBef>
                        <a:spcAft>
                          <a:spcPts val="0"/>
                        </a:spcAft>
                      </a:pPr>
                      <a:r>
                        <a:rPr sz="1333" b="0">
                          <a:solidFill>
                            <a:srgbClr val="152840"/>
                          </a:solidFill>
                          <a:latin typeface="Apple SD Gothic Neo"/>
                          <a:ea typeface="Apple SD Gothic Neo"/>
                        </a:rPr>
                        <a:t>변조·익명·CSRF 거부를 확인했으나,</a:t>
                      </a:r>
                    </a:p>
                    <a:p>
                      <a:pPr algn="l">
                        <a:lnSpc>
                          <a:spcPts val="1466"/>
                        </a:lnSpc>
                        <a:spcBef>
                          <a:spcPts val="0"/>
                        </a:spcBef>
                        <a:spcAft>
                          <a:spcPts val="0"/>
                        </a:spcAft>
                      </a:pPr>
                      <a:r>
                        <a:rPr sz="1333" b="0">
                          <a:solidFill>
                            <a:srgbClr val="152840"/>
                          </a:solidFill>
                          <a:latin typeface="Apple SD Gothic Neo"/>
                          <a:ea typeface="Apple SD Gothic Neo"/>
                        </a:rPr>
                        <a:t>종합 공격 대응과 다중 조직 권한은 과제다.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QA-06</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안전성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HITL·Backend 승인 재검증으로 쓰기를 통제한다.</a:t>
                      </a:r>
                    </a:p>
                    <a:p>
                      <a:pPr algn="l">
                        <a:lnSpc>
                          <a:spcPts val="1466"/>
                        </a:lnSpc>
                        <a:spcBef>
                          <a:spcPts val="0"/>
                        </a:spcBef>
                        <a:spcAft>
                          <a:spcPts val="0"/>
                        </a:spcAft>
                      </a:pPr>
                      <a:r>
                        <a:rPr sz="1333" b="0">
                          <a:solidFill>
                            <a:srgbClr val="152840"/>
                          </a:solidFill>
                          <a:latin typeface="Apple SD Gothic Neo"/>
                          <a:ea typeface="Apple SD Gothic Neo"/>
                        </a:rPr>
                        <a:t>승인 시 내부 이슈 1건·거절 시 0건을 확인했다.</a:t>
                      </a:r>
                    </a:p>
                    <a:p>
                      <a:pPr algn="l">
                        <a:lnSpc>
                          <a:spcPts val="1466"/>
                        </a:lnSpc>
                        <a:spcBef>
                          <a:spcPts val="0"/>
                        </a:spcBef>
                        <a:spcAft>
                          <a:spcPts val="0"/>
                        </a:spcAft>
                      </a:pPr>
                      <a:r>
                        <a:rPr sz="1333" b="0">
                          <a:solidFill>
                            <a:srgbClr val="152840"/>
                          </a:solidFill>
                          <a:latin typeface="Apple SD Gothic Neo"/>
                          <a:ea typeface="Apple SD Gothic Neo"/>
                        </a:rPr>
                        <a:t>자동 패치·대상 앱 실행·운영 배포는 하지 않는다.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QA-09</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bl>
          </a:graphicData>
        </a:graphic>
      </p:graphicFrame>
      <p:graphicFrame>
        <p:nvGraphicFramePr>
          <p:cNvPr id="14" name="Table 13"/>
          <p:cNvGraphicFramePr>
            <a:graphicFrameLocks noGrp="1"/>
          </p:cNvGraphicFramePr>
          <p:nvPr/>
        </p:nvGraphicFramePr>
        <p:xfrm>
          <a:off x="6248400" y="1574800"/>
          <a:ext cx="5469466" cy="4504266"/>
        </p:xfrm>
        <a:graphic>
          <a:graphicData uri="http://schemas.openxmlformats.org/drawingml/2006/table">
            <a:tbl>
              <a:tblPr firstRow="1">
                <a:tableStyleId>{5C22544A-7EE6-4342-B048-85BDC9FD1C3A}</a:tableStyleId>
              </a:tblPr>
              <a:tblGrid>
                <a:gridCol w="1159933"/>
                <a:gridCol w="3606800"/>
                <a:gridCol w="702733"/>
              </a:tblGrid>
              <a:tr h="440266">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품질 기준</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설계 내용과 확인 범위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c>
                  <a:txBody>
                    <a:bodyPr wrap="square"/>
                    <a:lstStyle/>
                    <a:p>
                      <a:pPr algn="ctr">
                        <a:lnSpc>
                          <a:spcPts val="1613"/>
                        </a:lnSpc>
                        <a:spcBef>
                          <a:spcPts val="0"/>
                        </a:spcBef>
                        <a:spcAft>
                          <a:spcPts val="0"/>
                        </a:spcAft>
                      </a:pPr>
                      <a:r>
                        <a:rPr sz="1466" b="1">
                          <a:solidFill>
                            <a:srgbClr val="FFFFFF"/>
                          </a:solidFill>
                          <a:latin typeface="Apple SD Gothic Neo"/>
                          <a:ea typeface="Apple SD Gothic Neo"/>
                        </a:rPr>
                        <a:t>근거</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061831"/>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호환성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JSON 계약·Streamable HTTP로 서비스를 잇는다.</a:t>
                      </a:r>
                    </a:p>
                    <a:p>
                      <a:pPr algn="l">
                        <a:lnSpc>
                          <a:spcPts val="1466"/>
                        </a:lnSpc>
                        <a:spcBef>
                          <a:spcPts val="0"/>
                        </a:spcBef>
                        <a:spcAft>
                          <a:spcPts val="0"/>
                        </a:spcAft>
                      </a:pPr>
                      <a:r>
                        <a:rPr sz="1333" b="0">
                          <a:solidFill>
                            <a:srgbClr val="152840"/>
                          </a:solidFill>
                          <a:latin typeface="Apple SD Gothic Neo"/>
                          <a:ea typeface="Apple SD Gothic Neo"/>
                        </a:rPr>
                        <a:t>구버전 조회와 로컬 통합 기록은 있으나,</a:t>
                      </a:r>
                    </a:p>
                    <a:p>
                      <a:pPr algn="l">
                        <a:lnSpc>
                          <a:spcPts val="1466"/>
                        </a:lnSpc>
                        <a:spcBef>
                          <a:spcPts val="0"/>
                        </a:spcBef>
                        <a:spcAft>
                          <a:spcPts val="0"/>
                        </a:spcAft>
                      </a:pPr>
                      <a:r>
                        <a:rPr sz="1333" b="0">
                          <a:solidFill>
                            <a:srgbClr val="152840"/>
                          </a:solidFill>
                          <a:latin typeface="Apple SD Gothic Neo"/>
                          <a:ea typeface="Apple SD Gothic Neo"/>
                        </a:rPr>
                        <a:t>다양한 클라이언트·버전 조합은 미검증이다.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QA-03</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상호작용 능력</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상태·근거·불확실성을 구분해 표시한다.</a:t>
                      </a:r>
                    </a:p>
                    <a:p>
                      <a:pPr algn="l">
                        <a:lnSpc>
                          <a:spcPts val="1466"/>
                        </a:lnSpc>
                        <a:spcBef>
                          <a:spcPts val="0"/>
                        </a:spcBef>
                        <a:spcAft>
                          <a:spcPts val="0"/>
                        </a:spcAft>
                      </a:pPr>
                      <a:r>
                        <a:rPr sz="1333" b="0">
                          <a:solidFill>
                            <a:srgbClr val="152840"/>
                          </a:solidFill>
                          <a:latin typeface="Apple SD Gothic Neo"/>
                          <a:ea typeface="Apple SD Gothic Neo"/>
                        </a:rPr>
                        <a:t>화면·SSE·모바일 E2E 기록은 있으나,</a:t>
                      </a:r>
                    </a:p>
                    <a:p>
                      <a:pPr algn="l">
                        <a:lnSpc>
                          <a:spcPts val="1466"/>
                        </a:lnSpc>
                        <a:spcBef>
                          <a:spcPts val="0"/>
                        </a:spcBef>
                        <a:spcAft>
                          <a:spcPts val="0"/>
                        </a:spcAft>
                      </a:pPr>
                      <a:r>
                        <a:rPr sz="1333" b="0">
                          <a:solidFill>
                            <a:srgbClr val="152840"/>
                          </a:solidFill>
                          <a:latin typeface="Apple SD Gothic Neo"/>
                          <a:ea typeface="Apple SD Gothic Neo"/>
                        </a:rPr>
                        <a:t>사용자 과업·접근성 평가는 부족하다.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QA-04</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유지보수성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규칙·프롬프트·업무 API와 테스트를 분리한다.</a:t>
                      </a:r>
                    </a:p>
                    <a:p>
                      <a:pPr algn="l">
                        <a:lnSpc>
                          <a:spcPts val="1466"/>
                        </a:lnSpc>
                        <a:spcBef>
                          <a:spcPts val="0"/>
                        </a:spcBef>
                        <a:spcAft>
                          <a:spcPts val="0"/>
                        </a:spcAft>
                      </a:pPr>
                      <a:r>
                        <a:rPr sz="1333" b="0">
                          <a:solidFill>
                            <a:srgbClr val="152840"/>
                          </a:solidFill>
                          <a:latin typeface="Apple SD Gothic Neo"/>
                          <a:ea typeface="Apple SD Gothic Neo"/>
                        </a:rPr>
                        <a:t>Python 40개·Java 8개 회귀 테스트 통과.</a:t>
                      </a:r>
                    </a:p>
                    <a:p>
                      <a:pPr algn="l">
                        <a:lnSpc>
                          <a:spcPts val="1466"/>
                        </a:lnSpc>
                        <a:spcBef>
                          <a:spcPts val="0"/>
                        </a:spcBef>
                        <a:spcAft>
                          <a:spcPts val="0"/>
                        </a:spcAft>
                      </a:pPr>
                      <a:r>
                        <a:rPr sz="1333" b="0">
                          <a:solidFill>
                            <a:srgbClr val="152840"/>
                          </a:solidFill>
                          <a:latin typeface="Apple SD Gothic Neo"/>
                          <a:ea typeface="Apple SD Gothic Neo"/>
                        </a:rPr>
                        <a:t>변경 비용·전체 분기 커버리지는 미측정이다.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QA-07</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유연성</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Compose·환경 변수로 배포 설정을 분리한다.</a:t>
                      </a:r>
                    </a:p>
                    <a:p>
                      <a:pPr algn="l">
                        <a:lnSpc>
                          <a:spcPts val="1466"/>
                        </a:lnSpc>
                        <a:spcBef>
                          <a:spcPts val="0"/>
                        </a:spcBef>
                        <a:spcAft>
                          <a:spcPts val="0"/>
                        </a:spcAft>
                      </a:pPr>
                      <a:r>
                        <a:rPr sz="1333" b="0">
                          <a:solidFill>
                            <a:srgbClr val="152840"/>
                          </a:solidFill>
                          <a:latin typeface="Apple SD Gothic Neo"/>
                          <a:ea typeface="Apple SD Gothic Neo"/>
                        </a:rPr>
                        <a:t>로컬 빌드·기동 기록은 있으나,</a:t>
                      </a:r>
                    </a:p>
                    <a:p>
                      <a:pPr algn="l">
                        <a:lnSpc>
                          <a:spcPts val="1466"/>
                        </a:lnSpc>
                        <a:spcBef>
                          <a:spcPts val="0"/>
                        </a:spcBef>
                        <a:spcAft>
                          <a:spcPts val="0"/>
                        </a:spcAft>
                      </a:pPr>
                      <a:r>
                        <a:rPr sz="1333" b="0">
                          <a:solidFill>
                            <a:srgbClr val="152840"/>
                          </a:solidFill>
                          <a:latin typeface="Apple SD Gothic Neo"/>
                          <a:ea typeface="Apple SD Gothic Neo"/>
                        </a:rPr>
                        <a:t>환경별 재현·다중 Worker·고가용성은 미검증이다.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QA-08</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r h="812800">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검증의</a:t>
                      </a:r>
                    </a:p>
                    <a:p>
                      <a:pPr algn="l">
                        <a:lnSpc>
                          <a:spcPts val="1466"/>
                        </a:lnSpc>
                        <a:spcBef>
                          <a:spcPts val="0"/>
                        </a:spcBef>
                        <a:spcAft>
                          <a:spcPts val="0"/>
                        </a:spcAft>
                      </a:pPr>
                      <a:r>
                        <a:rPr sz="1333" b="0">
                          <a:solidFill>
                            <a:srgbClr val="152840"/>
                          </a:solidFill>
                          <a:latin typeface="Apple SD Gothic Neo"/>
                          <a:ea typeface="Apple SD Gothic Neo"/>
                        </a:rPr>
                        <a:t>해석 범위</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l">
                        <a:lnSpc>
                          <a:spcPts val="1466"/>
                        </a:lnSpc>
                        <a:spcBef>
                          <a:spcPts val="0"/>
                        </a:spcBef>
                        <a:spcAft>
                          <a:spcPts val="0"/>
                        </a:spcAft>
                      </a:pPr>
                      <a:r>
                        <a:rPr sz="1333" b="0">
                          <a:solidFill>
                            <a:srgbClr val="152840"/>
                          </a:solidFill>
                          <a:latin typeface="Apple SD Gothic Neo"/>
                          <a:ea typeface="Apple SD Gothic Neo"/>
                        </a:rPr>
                        <a:t>구현·샘플 검증·미측정 항목을 구분한다.</a:t>
                      </a:r>
                    </a:p>
                    <a:p>
                      <a:pPr algn="l">
                        <a:lnSpc>
                          <a:spcPts val="1466"/>
                        </a:lnSpc>
                        <a:spcBef>
                          <a:spcPts val="0"/>
                        </a:spcBef>
                        <a:spcAft>
                          <a:spcPts val="0"/>
                        </a:spcAft>
                      </a:pPr>
                      <a:r>
                        <a:rPr sz="1333" b="0">
                          <a:solidFill>
                            <a:srgbClr val="152840"/>
                          </a:solidFill>
                          <a:latin typeface="Apple SD Gothic Neo"/>
                          <a:ea typeface="Apple SD Gothic Neo"/>
                        </a:rPr>
                        <a:t>단위 테스트 대역과 과거 라이브 통합을 나누며,</a:t>
                      </a:r>
                    </a:p>
                    <a:p>
                      <a:pPr algn="l">
                        <a:lnSpc>
                          <a:spcPts val="1466"/>
                        </a:lnSpc>
                        <a:spcBef>
                          <a:spcPts val="0"/>
                        </a:spcBef>
                        <a:spcAft>
                          <a:spcPts val="0"/>
                        </a:spcAft>
                      </a:pPr>
                      <a:r>
                        <a:rPr sz="1333" b="0">
                          <a:solidFill>
                            <a:srgbClr val="152840"/>
                          </a:solidFill>
                          <a:latin typeface="Apple SD Gothic Neo"/>
                          <a:ea typeface="Apple SD Gothic Neo"/>
                        </a:rPr>
                        <a:t>전체 품질 달성이나 ISO 인증으로 설명하지 않는다.</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c>
                  <a:txBody>
                    <a:bodyPr wrap="square"/>
                    <a:lstStyle/>
                    <a:p>
                      <a:pPr algn="ctr">
                        <a:lnSpc>
                          <a:spcPts val="1466"/>
                        </a:lnSpc>
                        <a:spcBef>
                          <a:spcPts val="0"/>
                        </a:spcBef>
                        <a:spcAft>
                          <a:spcPts val="0"/>
                        </a:spcAft>
                      </a:pPr>
                      <a:r>
                        <a:rPr sz="1333" b="0">
                          <a:solidFill>
                            <a:srgbClr val="152840"/>
                          </a:solidFill>
                          <a:latin typeface="Apple SD Gothic Neo"/>
                          <a:ea typeface="Apple SD Gothic Neo"/>
                        </a:rPr>
                        <a:t>V1–V4</a:t>
                      </a:r>
                    </a:p>
                  </a:txBody>
                  <a:tcPr marL="76200" marR="76200" marT="50800" marB="50800" anchor="ctr">
                    <a:lnL w="6350">
                      <a:solidFill>
                        <a:srgbClr val="D7DFEA"/>
                      </a:solidFill>
                    </a:lnL>
                    <a:lnR w="6350">
                      <a:solidFill>
                        <a:srgbClr val="D7DFEA"/>
                      </a:solidFill>
                    </a:lnR>
                    <a:lnT w="6350">
                      <a:solidFill>
                        <a:srgbClr val="D7DFEA"/>
                      </a:solidFill>
                    </a:lnT>
                    <a:lnB w="6350">
                      <a:solidFill>
                        <a:srgbClr val="D7DFEA"/>
                      </a:solidFill>
                    </a:lnB>
                    <a:solidFill>
                      <a:srgbClr val="FFFFFF"/>
                    </a:solidFill>
                  </a:tcPr>
                </a:tc>
              </a:tr>
            </a:tbl>
          </a:graphicData>
        </a:graphic>
      </p:graphicFrame>
      <p:sp>
        <p:nvSpPr>
          <p:cNvPr id="15" name="TextBox 14"/>
          <p:cNvSpPr txBox="1"/>
          <p:nvPr/>
        </p:nvSpPr>
        <p:spPr>
          <a:xfrm>
            <a:off x="474133" y="6163733"/>
            <a:ext cx="11243733" cy="160866"/>
          </a:xfrm>
          <a:prstGeom prst="rect">
            <a:avLst/>
          </a:prstGeom>
          <a:noFill/>
        </p:spPr>
        <p:txBody>
          <a:bodyPr wrap="square" lIns="0" rIns="0" tIns="0" bIns="0" anchor="t">
            <a:spAutoFit/>
          </a:bodyPr>
          <a:lstStyle/>
          <a:p>
            <a:pPr algn="l">
              <a:lnSpc>
                <a:spcPct val="118000"/>
              </a:lnSpc>
              <a:spcBef>
                <a:spcPts val="0"/>
              </a:spcBef>
              <a:spcAft>
                <a:spcPts val="0"/>
              </a:spcAft>
            </a:pPr>
            <a:r>
              <a:rPr sz="1000" b="0">
                <a:solidFill>
                  <a:srgbClr val="64748B"/>
                </a:solidFill>
                <a:latin typeface="Apple SD Gothic Neo"/>
                <a:ea typeface="Apple SD Gothic Neo"/>
              </a:rPr>
              <a:t>근거  QA-01–09: docs/ARCHITECTURE.md의 품질 요구사항·설계·코드·검증 대응표</a:t>
            </a:r>
          </a:p>
        </p:txBody>
      </p:sp>
      <p:sp>
        <p:nvSpPr>
          <p:cNvPr id="16" name="TextBox 15"/>
          <p:cNvSpPr txBox="1"/>
          <p:nvPr/>
        </p:nvSpPr>
        <p:spPr>
          <a:xfrm>
            <a:off x="474133" y="6324600"/>
            <a:ext cx="11243733" cy="152400"/>
          </a:xfrm>
          <a:prstGeom prst="rect">
            <a:avLst/>
          </a:prstGeom>
          <a:noFill/>
        </p:spPr>
        <p:txBody>
          <a:bodyPr wrap="square" lIns="0" rIns="0" tIns="0" bIns="0" anchor="t">
            <a:spAutoFit/>
          </a:bodyPr>
          <a:lstStyle/>
          <a:p>
            <a:pPr algn="l">
              <a:lnSpc>
                <a:spcPct val="118000"/>
              </a:lnSpc>
              <a:spcBef>
                <a:spcPts val="0"/>
              </a:spcBef>
              <a:spcAft>
                <a:spcPts val="0"/>
              </a:spcAft>
            </a:pPr>
            <a:r>
              <a:rPr sz="966" b="0">
                <a:solidFill>
                  <a:srgbClr val="64748B"/>
                </a:solidFill>
                <a:latin typeface="Apple SD Gothic Neo"/>
                <a:ea typeface="Apple SD Gothic Neo"/>
              </a:rPr>
              <a:t>        V1·V2: 2026-10-21 단위/경계 테스트  /  V3: 2026-10-19 통합 기록  /  V4: 2026-10-20 변경 리뷰·E2E 기록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STATE · GRAPH · BRANCH · LOOP</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업무 근거의 부족 여부가 다음 행동을 결정합니다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AI Agent 설계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15점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agent/csi_agent/graph.py State / build_graph · planner.py missing_requirements</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04</a:t>
            </a:r>
          </a:p>
        </p:txBody>
      </p:sp>
      <p:sp>
        <p:nvSpPr>
          <p:cNvPr id="11" name="Rectangle 10"/>
          <p:cNvSpPr/>
          <p:nvPr/>
        </p:nvSpPr>
        <p:spPr>
          <a:xfrm>
            <a:off x="474133" y="1227666"/>
            <a:ext cx="2785533" cy="3048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8800" y="1261533"/>
            <a:ext cx="2616200" cy="237066"/>
          </a:xfrm>
          <a:prstGeom prst="rect">
            <a:avLst/>
          </a:prstGeom>
          <a:noFill/>
        </p:spPr>
        <p:txBody>
          <a:bodyPr wrap="square" lIns="0" rIns="0" tIns="0" bIns="0" anchor="ctr">
            <a:spAutoFit/>
          </a:bodyPr>
          <a:lstStyle/>
          <a:p>
            <a:pPr algn="l">
              <a:lnSpc>
                <a:spcPct val="118000"/>
              </a:lnSpc>
              <a:spcBef>
                <a:spcPts val="0"/>
              </a:spcBef>
              <a:spcAft>
                <a:spcPts val="0"/>
              </a:spcAft>
            </a:pPr>
            <a:r>
              <a:rPr sz="1333" b="1">
                <a:solidFill>
                  <a:srgbClr val="365DA3"/>
                </a:solidFill>
                <a:latin typeface="Apple SD Gothic Neo"/>
                <a:ea typeface="Apple SD Gothic Neo"/>
              </a:rPr>
              <a:t>STATE  /  기억하는 업무 정보</a:t>
            </a:r>
          </a:p>
        </p:txBody>
      </p:sp>
      <p:sp>
        <p:nvSpPr>
          <p:cNvPr id="13" name="Rectangle 12"/>
          <p:cNvSpPr/>
          <p:nvPr/>
        </p:nvSpPr>
        <p:spPr>
          <a:xfrm>
            <a:off x="474133" y="1667933"/>
            <a:ext cx="2785533" cy="872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4133" y="1667933"/>
            <a:ext cx="42333" cy="872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066" y="1786466"/>
            <a:ext cx="2497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검사·변경</a:t>
            </a:r>
          </a:p>
        </p:txBody>
      </p:sp>
      <p:sp>
        <p:nvSpPr>
          <p:cNvPr id="16" name="TextBox 15"/>
          <p:cNvSpPr txBox="1"/>
          <p:nvPr/>
        </p:nvSpPr>
        <p:spPr>
          <a:xfrm>
            <a:off x="618066" y="2175933"/>
            <a:ext cx="2497666" cy="313266"/>
          </a:xfrm>
          <a:prstGeom prst="rect">
            <a:avLst/>
          </a:prstGeom>
          <a:noFill/>
        </p:spPr>
        <p:txBody>
          <a:bodyPr wrap="square" lIns="0" rIns="0" tIns="0" bIns="0" anchor="t">
            <a:spAutoFit/>
          </a:bodyPr>
          <a:lstStyle/>
          <a:p>
            <a:pPr algn="l">
              <a:lnSpc>
                <a:spcPct val="118000"/>
              </a:lnSpc>
              <a:spcBef>
                <a:spcPts val="0"/>
              </a:spcBef>
              <a:spcAft>
                <a:spcPts val="0"/>
              </a:spcAft>
            </a:pPr>
            <a:r>
              <a:rPr sz="1266" b="0">
                <a:solidFill>
                  <a:srgbClr val="64748B"/>
                </a:solidFill>
                <a:latin typeface="Apple SD Gothic Neo"/>
                <a:ea typeface="Apple SD Gothic Neo"/>
              </a:rPr>
              <a:t>event · findings · changes</a:t>
            </a:r>
          </a:p>
        </p:txBody>
      </p:sp>
      <p:sp>
        <p:nvSpPr>
          <p:cNvPr id="17" name="Rectangle 16"/>
          <p:cNvSpPr/>
          <p:nvPr/>
        </p:nvSpPr>
        <p:spPr>
          <a:xfrm>
            <a:off x="474133" y="2624666"/>
            <a:ext cx="2785533" cy="872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4133" y="2624666"/>
            <a:ext cx="42333" cy="872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066" y="2743200"/>
            <a:ext cx="2497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근거</a:t>
            </a:r>
          </a:p>
        </p:txBody>
      </p:sp>
      <p:sp>
        <p:nvSpPr>
          <p:cNvPr id="20" name="TextBox 19"/>
          <p:cNvSpPr txBox="1"/>
          <p:nvPr/>
        </p:nvSpPr>
        <p:spPr>
          <a:xfrm>
            <a:off x="618066" y="3132666"/>
            <a:ext cx="2497666" cy="313266"/>
          </a:xfrm>
          <a:prstGeom prst="rect">
            <a:avLst/>
          </a:prstGeom>
          <a:noFill/>
        </p:spPr>
        <p:txBody>
          <a:bodyPr wrap="square" lIns="0" rIns="0" tIns="0" bIns="0" anchor="t">
            <a:spAutoFit/>
          </a:bodyPr>
          <a:lstStyle/>
          <a:p>
            <a:pPr algn="l">
              <a:lnSpc>
                <a:spcPct val="118000"/>
              </a:lnSpc>
              <a:spcBef>
                <a:spcPts val="0"/>
              </a:spcBef>
              <a:spcAft>
                <a:spcPts val="0"/>
              </a:spcAft>
            </a:pPr>
            <a:r>
              <a:rPr sz="1266" b="0">
                <a:solidFill>
                  <a:srgbClr val="64748B"/>
                </a:solidFill>
                <a:latin typeface="Apple SD Gothic Neo"/>
                <a:ea typeface="Apple SD Gothic Neo"/>
              </a:rPr>
              <a:t>policy · references · comparison</a:t>
            </a:r>
          </a:p>
        </p:txBody>
      </p:sp>
      <p:sp>
        <p:nvSpPr>
          <p:cNvPr id="21" name="Rectangle 20"/>
          <p:cNvSpPr/>
          <p:nvPr/>
        </p:nvSpPr>
        <p:spPr>
          <a:xfrm>
            <a:off x="474133" y="3581400"/>
            <a:ext cx="2785533" cy="872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4133" y="3581400"/>
            <a:ext cx="42333" cy="872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066" y="3699933"/>
            <a:ext cx="2497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조사 과정</a:t>
            </a:r>
          </a:p>
        </p:txBody>
      </p:sp>
      <p:sp>
        <p:nvSpPr>
          <p:cNvPr id="24" name="TextBox 23"/>
          <p:cNvSpPr txBox="1"/>
          <p:nvPr/>
        </p:nvSpPr>
        <p:spPr>
          <a:xfrm>
            <a:off x="618066" y="4089400"/>
            <a:ext cx="2497666" cy="313266"/>
          </a:xfrm>
          <a:prstGeom prst="rect">
            <a:avLst/>
          </a:prstGeom>
          <a:noFill/>
        </p:spPr>
        <p:txBody>
          <a:bodyPr wrap="square" lIns="0" rIns="0" tIns="0" bIns="0" anchor="t">
            <a:spAutoFit/>
          </a:bodyPr>
          <a:lstStyle/>
          <a:p>
            <a:pPr algn="l">
              <a:lnSpc>
                <a:spcPct val="118000"/>
              </a:lnSpc>
              <a:spcBef>
                <a:spcPts val="0"/>
              </a:spcBef>
              <a:spcAft>
                <a:spcPts val="0"/>
              </a:spcAft>
            </a:pPr>
            <a:r>
              <a:rPr sz="1266" b="0">
                <a:solidFill>
                  <a:srgbClr val="64748B"/>
                </a:solidFill>
                <a:latin typeface="Apple SD Gothic Neo"/>
                <a:ea typeface="Apple SD Gothic Neo"/>
              </a:rPr>
              <a:t>action · observation · trace</a:t>
            </a:r>
          </a:p>
        </p:txBody>
      </p:sp>
      <p:sp>
        <p:nvSpPr>
          <p:cNvPr id="25" name="Rectangle 24"/>
          <p:cNvSpPr/>
          <p:nvPr/>
        </p:nvSpPr>
        <p:spPr>
          <a:xfrm>
            <a:off x="474133" y="4538133"/>
            <a:ext cx="2785533" cy="872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4133" y="4538133"/>
            <a:ext cx="42333" cy="872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066" y="4656666"/>
            <a:ext cx="2497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실행·승인</a:t>
            </a:r>
          </a:p>
        </p:txBody>
      </p:sp>
      <p:sp>
        <p:nvSpPr>
          <p:cNvPr id="28" name="TextBox 27"/>
          <p:cNvSpPr txBox="1"/>
          <p:nvPr/>
        </p:nvSpPr>
        <p:spPr>
          <a:xfrm>
            <a:off x="618066" y="5046133"/>
            <a:ext cx="2497666" cy="313266"/>
          </a:xfrm>
          <a:prstGeom prst="rect">
            <a:avLst/>
          </a:prstGeom>
          <a:noFill/>
        </p:spPr>
        <p:txBody>
          <a:bodyPr wrap="square" lIns="0" rIns="0" tIns="0" bIns="0" anchor="t">
            <a:spAutoFit/>
          </a:bodyPr>
          <a:lstStyle/>
          <a:p>
            <a:pPr algn="l">
              <a:lnSpc>
                <a:spcPct val="118000"/>
              </a:lnSpc>
              <a:spcBef>
                <a:spcPts val="0"/>
              </a:spcBef>
              <a:spcAft>
                <a:spcPts val="0"/>
              </a:spcAft>
            </a:pPr>
            <a:r>
              <a:rPr sz="1266" b="0">
                <a:solidFill>
                  <a:srgbClr val="64748B"/>
                </a:solidFill>
                <a:latin typeface="Apple SD Gothic Neo"/>
                <a:ea typeface="Apple SD Gothic Neo"/>
              </a:rPr>
              <a:t>budget · approval · decision</a:t>
            </a:r>
          </a:p>
        </p:txBody>
      </p:sp>
      <p:sp>
        <p:nvSpPr>
          <p:cNvPr id="29" name="Rectangle 28"/>
          <p:cNvSpPr/>
          <p:nvPr/>
        </p:nvSpPr>
        <p:spPr>
          <a:xfrm>
            <a:off x="3564466" y="1227666"/>
            <a:ext cx="8153400" cy="3048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49133" y="1261533"/>
            <a:ext cx="7984066" cy="237066"/>
          </a:xfrm>
          <a:prstGeom prst="rect">
            <a:avLst/>
          </a:prstGeom>
          <a:noFill/>
        </p:spPr>
        <p:txBody>
          <a:bodyPr wrap="square" lIns="0" rIns="0" tIns="0" bIns="0" anchor="ctr">
            <a:spAutoFit/>
          </a:bodyPr>
          <a:lstStyle/>
          <a:p>
            <a:pPr algn="l">
              <a:lnSpc>
                <a:spcPct val="118000"/>
              </a:lnSpc>
              <a:spcBef>
                <a:spcPts val="0"/>
              </a:spcBef>
              <a:spcAft>
                <a:spcPts val="0"/>
              </a:spcAft>
            </a:pPr>
            <a:r>
              <a:rPr sz="1333" b="1">
                <a:solidFill>
                  <a:srgbClr val="365DA3"/>
                </a:solidFill>
                <a:latin typeface="Apple SD Gothic Neo"/>
                <a:ea typeface="Apple SD Gothic Neo"/>
              </a:rPr>
              <a:t>GRAPH  /  고정 단계와 모델 선택 분리</a:t>
            </a:r>
          </a:p>
        </p:txBody>
      </p:sp>
      <p:sp>
        <p:nvSpPr>
          <p:cNvPr id="31" name="Rectangle 30"/>
          <p:cNvSpPr/>
          <p:nvPr/>
        </p:nvSpPr>
        <p:spPr>
          <a:xfrm>
            <a:off x="3564466" y="1701800"/>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64466" y="1701800"/>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08400" y="1820333"/>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검사 검증</a:t>
            </a:r>
          </a:p>
        </p:txBody>
      </p:sp>
      <p:sp>
        <p:nvSpPr>
          <p:cNvPr id="34" name="TextBox 33"/>
          <p:cNvSpPr txBox="1"/>
          <p:nvPr/>
        </p:nvSpPr>
        <p:spPr>
          <a:xfrm>
            <a:off x="3708400" y="2209800"/>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validate_scan</a:t>
            </a:r>
          </a:p>
        </p:txBody>
      </p:sp>
      <p:sp>
        <p:nvSpPr>
          <p:cNvPr id="35" name="Rectangle 34"/>
          <p:cNvSpPr/>
          <p:nvPr/>
        </p:nvSpPr>
        <p:spPr>
          <a:xfrm>
            <a:off x="6400800" y="1701800"/>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1701800"/>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44733" y="1820333"/>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근거 로드</a:t>
            </a:r>
          </a:p>
        </p:txBody>
      </p:sp>
      <p:sp>
        <p:nvSpPr>
          <p:cNvPr id="38" name="TextBox 37"/>
          <p:cNvSpPr txBox="1"/>
          <p:nvPr/>
        </p:nvSpPr>
        <p:spPr>
          <a:xfrm>
            <a:off x="6544733" y="2209800"/>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load_findings</a:t>
            </a:r>
          </a:p>
        </p:txBody>
      </p:sp>
      <p:sp>
        <p:nvSpPr>
          <p:cNvPr id="39" name="Rectangle 38"/>
          <p:cNvSpPr/>
          <p:nvPr/>
        </p:nvSpPr>
        <p:spPr>
          <a:xfrm>
            <a:off x="9237133" y="1701800"/>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37133" y="1701800"/>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81066" y="1820333"/>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조사 필요 판단</a:t>
            </a:r>
          </a:p>
        </p:txBody>
      </p:sp>
      <p:sp>
        <p:nvSpPr>
          <p:cNvPr id="42" name="TextBox 41"/>
          <p:cNvSpPr txBox="1"/>
          <p:nvPr/>
        </p:nvSpPr>
        <p:spPr>
          <a:xfrm>
            <a:off x="9381066" y="2209800"/>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select_analysis_tools</a:t>
            </a:r>
          </a:p>
        </p:txBody>
      </p:sp>
      <p:cxnSp>
        <p:nvCxnSpPr>
          <p:cNvPr id="43" name="Connector 42"/>
          <p:cNvCxnSpPr/>
          <p:nvPr/>
        </p:nvCxnSpPr>
        <p:spPr>
          <a:xfrm>
            <a:off x="6045200" y="2125133"/>
            <a:ext cx="355600" cy="0"/>
          </a:xfrm>
          <a:prstGeom prst="line">
            <a:avLst/>
          </a:prstGeom>
          <a:ln w="16933">
            <a:solidFill>
              <a:srgbClr val="64748B"/>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881533" y="2125133"/>
            <a:ext cx="355600" cy="0"/>
          </a:xfrm>
          <a:prstGeom prst="line">
            <a:avLst/>
          </a:prstGeom>
          <a:ln w="16933">
            <a:solidFill>
              <a:srgbClr val="64748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3564466" y="2836333"/>
            <a:ext cx="8153400" cy="176953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08400" y="2912533"/>
            <a:ext cx="7535333" cy="254000"/>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365DA3"/>
                </a:solidFill>
                <a:latin typeface="Apple SD Gothic Neo"/>
                <a:ea typeface="Apple SD Gothic Neo"/>
              </a:rPr>
              <a:t>규칙 또는 변경 존재 → 모델 선택 루프</a:t>
            </a:r>
          </a:p>
        </p:txBody>
      </p:sp>
      <p:sp>
        <p:nvSpPr>
          <p:cNvPr id="47" name="Rectangle 46"/>
          <p:cNvSpPr/>
          <p:nvPr/>
        </p:nvSpPr>
        <p:spPr>
          <a:xfrm>
            <a:off x="3708400" y="3302000"/>
            <a:ext cx="2370666"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708400" y="3302000"/>
            <a:ext cx="42333" cy="8466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52333" y="3420533"/>
            <a:ext cx="2082800"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다음 도구 선택</a:t>
            </a:r>
          </a:p>
        </p:txBody>
      </p:sp>
      <p:sp>
        <p:nvSpPr>
          <p:cNvPr id="50" name="TextBox 49"/>
          <p:cNvSpPr txBox="1"/>
          <p:nvPr/>
        </p:nvSpPr>
        <p:spPr>
          <a:xfrm>
            <a:off x="3852333" y="3810000"/>
            <a:ext cx="2082800" cy="287866"/>
          </a:xfrm>
          <a:prstGeom prst="rect">
            <a:avLst/>
          </a:prstGeom>
          <a:noFill/>
        </p:spPr>
        <p:txBody>
          <a:bodyPr wrap="square" lIns="0" rIns="0" tIns="0" bIns="0" anchor="t">
            <a:spAutoFit/>
          </a:bodyPr>
          <a:lstStyle/>
          <a:p>
            <a:pPr algn="l">
              <a:lnSpc>
                <a:spcPct val="118000"/>
              </a:lnSpc>
              <a:spcBef>
                <a:spcPts val="0"/>
              </a:spcBef>
              <a:spcAft>
                <a:spcPts val="0"/>
              </a:spcAft>
            </a:pPr>
            <a:r>
              <a:rPr sz="1200" b="0">
                <a:solidFill>
                  <a:srgbClr val="64748B"/>
                </a:solidFill>
                <a:latin typeface="Apple SD Gothic Neo"/>
                <a:ea typeface="Apple SD Gothic Neo"/>
              </a:rPr>
              <a:t>plan_analysis</a:t>
            </a:r>
          </a:p>
        </p:txBody>
      </p:sp>
      <p:sp>
        <p:nvSpPr>
          <p:cNvPr id="51" name="Rectangle 50"/>
          <p:cNvSpPr/>
          <p:nvPr/>
        </p:nvSpPr>
        <p:spPr>
          <a:xfrm>
            <a:off x="6451600" y="3302000"/>
            <a:ext cx="2370666"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51600" y="3302000"/>
            <a:ext cx="42333" cy="8466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95533" y="3420533"/>
            <a:ext cx="2082800"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인자 검증 · 실행</a:t>
            </a:r>
          </a:p>
        </p:txBody>
      </p:sp>
      <p:sp>
        <p:nvSpPr>
          <p:cNvPr id="54" name="TextBox 53"/>
          <p:cNvSpPr txBox="1"/>
          <p:nvPr/>
        </p:nvSpPr>
        <p:spPr>
          <a:xfrm>
            <a:off x="6595533" y="3810000"/>
            <a:ext cx="2082800" cy="287866"/>
          </a:xfrm>
          <a:prstGeom prst="rect">
            <a:avLst/>
          </a:prstGeom>
          <a:noFill/>
        </p:spPr>
        <p:txBody>
          <a:bodyPr wrap="square" lIns="0" rIns="0" tIns="0" bIns="0" anchor="t">
            <a:spAutoFit/>
          </a:bodyPr>
          <a:lstStyle/>
          <a:p>
            <a:pPr algn="l">
              <a:lnSpc>
                <a:spcPct val="118000"/>
              </a:lnSpc>
              <a:spcBef>
                <a:spcPts val="0"/>
              </a:spcBef>
              <a:spcAft>
                <a:spcPts val="0"/>
              </a:spcAft>
            </a:pPr>
            <a:r>
              <a:rPr sz="1200" b="0">
                <a:solidFill>
                  <a:srgbClr val="64748B"/>
                </a:solidFill>
                <a:latin typeface="Apple SD Gothic Neo"/>
                <a:ea typeface="Apple SD Gothic Neo"/>
              </a:rPr>
              <a:t>execute_analysis_tool</a:t>
            </a:r>
          </a:p>
        </p:txBody>
      </p:sp>
      <p:sp>
        <p:nvSpPr>
          <p:cNvPr id="55" name="Rectangle 54"/>
          <p:cNvSpPr/>
          <p:nvPr/>
        </p:nvSpPr>
        <p:spPr>
          <a:xfrm>
            <a:off x="9194800" y="3302000"/>
            <a:ext cx="2370666"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194800" y="3302000"/>
            <a:ext cx="42333" cy="8466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38733" y="3420533"/>
            <a:ext cx="2082800"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관측 · 근거 확인</a:t>
            </a:r>
          </a:p>
        </p:txBody>
      </p:sp>
      <p:sp>
        <p:nvSpPr>
          <p:cNvPr id="58" name="TextBox 57"/>
          <p:cNvSpPr txBox="1"/>
          <p:nvPr/>
        </p:nvSpPr>
        <p:spPr>
          <a:xfrm>
            <a:off x="9338733" y="3810000"/>
            <a:ext cx="2082800" cy="287866"/>
          </a:xfrm>
          <a:prstGeom prst="rect">
            <a:avLst/>
          </a:prstGeom>
          <a:noFill/>
        </p:spPr>
        <p:txBody>
          <a:bodyPr wrap="square" lIns="0" rIns="0" tIns="0" bIns="0" anchor="t">
            <a:spAutoFit/>
          </a:bodyPr>
          <a:lstStyle/>
          <a:p>
            <a:pPr algn="l">
              <a:lnSpc>
                <a:spcPct val="118000"/>
              </a:lnSpc>
              <a:spcBef>
                <a:spcPts val="0"/>
              </a:spcBef>
              <a:spcAft>
                <a:spcPts val="0"/>
              </a:spcAft>
            </a:pPr>
            <a:r>
              <a:rPr sz="1200" b="0">
                <a:solidFill>
                  <a:srgbClr val="64748B"/>
                </a:solidFill>
                <a:latin typeface="Apple SD Gothic Neo"/>
                <a:ea typeface="Apple SD Gothic Neo"/>
              </a:rPr>
              <a:t>assess_evidence</a:t>
            </a:r>
          </a:p>
        </p:txBody>
      </p:sp>
      <p:cxnSp>
        <p:nvCxnSpPr>
          <p:cNvPr id="59" name="Connector 58"/>
          <p:cNvCxnSpPr/>
          <p:nvPr/>
        </p:nvCxnSpPr>
        <p:spPr>
          <a:xfrm>
            <a:off x="6079066" y="3725333"/>
            <a:ext cx="372534"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822266" y="3725333"/>
            <a:ext cx="372534"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380133" y="4148666"/>
            <a:ext cx="0" cy="372534"/>
          </a:xfrm>
          <a:prstGeom prst="line">
            <a:avLst/>
          </a:prstGeom>
          <a:ln w="16933">
            <a:solidFill>
              <a:srgbClr val="FF6B3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893733" y="4521200"/>
            <a:ext cx="5486400" cy="0"/>
          </a:xfrm>
          <a:prstGeom prst="line">
            <a:avLst/>
          </a:prstGeom>
          <a:ln w="16933">
            <a:solidFill>
              <a:srgbClr val="FF6B3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893733" y="4148666"/>
            <a:ext cx="0" cy="372534"/>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57333" y="4199466"/>
            <a:ext cx="4182533" cy="254000"/>
          </a:xfrm>
          <a:prstGeom prst="rect">
            <a:avLst/>
          </a:prstGeom>
          <a:noFill/>
        </p:spPr>
        <p:txBody>
          <a:bodyPr wrap="square" lIns="0" rIns="0" tIns="0" bIns="0" anchor="t">
            <a:spAutoFit/>
          </a:bodyPr>
          <a:lstStyle/>
          <a:p>
            <a:pPr algn="ctr">
              <a:lnSpc>
                <a:spcPct val="118000"/>
              </a:lnSpc>
              <a:spcBef>
                <a:spcPts val="0"/>
              </a:spcBef>
              <a:spcAft>
                <a:spcPts val="0"/>
              </a:spcAft>
            </a:pPr>
            <a:r>
              <a:rPr sz="1466" b="1">
                <a:solidFill>
                  <a:srgbClr val="FF6B35"/>
                </a:solidFill>
                <a:latin typeface="Apple SD Gothic Neo"/>
                <a:ea typeface="Apple SD Gothic Neo"/>
              </a:rPr>
              <a:t>근거 부족 / 도구 오류 → 재선택</a:t>
            </a:r>
          </a:p>
        </p:txBody>
      </p:sp>
      <p:cxnSp>
        <p:nvCxnSpPr>
          <p:cNvPr id="65" name="Connector 64"/>
          <p:cNvCxnSpPr/>
          <p:nvPr/>
        </p:nvCxnSpPr>
        <p:spPr>
          <a:xfrm>
            <a:off x="10473266" y="2548466"/>
            <a:ext cx="0" cy="177800"/>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3581400" y="2726266"/>
            <a:ext cx="6891866" cy="0"/>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81400" y="2726266"/>
            <a:ext cx="0" cy="491067"/>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581400" y="3217333"/>
            <a:ext cx="1312333" cy="0"/>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893733" y="3217333"/>
            <a:ext cx="0" cy="84667"/>
          </a:xfrm>
          <a:prstGeom prst="line">
            <a:avLst/>
          </a:prstGeom>
          <a:ln w="16933">
            <a:solidFill>
              <a:srgbClr val="365DA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3564466" y="4944533"/>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564466" y="4944533"/>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708400" y="5063066"/>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Red / Blue 검토</a:t>
            </a:r>
          </a:p>
        </p:txBody>
      </p:sp>
      <p:sp>
        <p:nvSpPr>
          <p:cNvPr id="73" name="TextBox 72"/>
          <p:cNvSpPr txBox="1"/>
          <p:nvPr/>
        </p:nvSpPr>
        <p:spPr>
          <a:xfrm>
            <a:off x="3708400" y="5452533"/>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정적 사실 + LLM 리뷰 검증</a:t>
            </a:r>
          </a:p>
        </p:txBody>
      </p:sp>
      <p:sp>
        <p:nvSpPr>
          <p:cNvPr id="74" name="Rectangle 73"/>
          <p:cNvSpPr/>
          <p:nvPr/>
        </p:nvSpPr>
        <p:spPr>
          <a:xfrm>
            <a:off x="6400800" y="4944533"/>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400800" y="4944533"/>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544733" y="5063066"/>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결과 발행</a:t>
            </a:r>
          </a:p>
        </p:txBody>
      </p:sp>
      <p:sp>
        <p:nvSpPr>
          <p:cNvPr id="77" name="TextBox 76"/>
          <p:cNvSpPr txBox="1"/>
          <p:nvPr/>
        </p:nvSpPr>
        <p:spPr>
          <a:xfrm>
            <a:off x="6544733" y="5452533"/>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scan.result → Backend 저장</a:t>
            </a:r>
          </a:p>
        </p:txBody>
      </p:sp>
      <p:sp>
        <p:nvSpPr>
          <p:cNvPr id="78" name="Rectangle 77"/>
          <p:cNvSpPr/>
          <p:nvPr/>
        </p:nvSpPr>
        <p:spPr>
          <a:xfrm>
            <a:off x="9237133" y="4944533"/>
            <a:ext cx="2480733" cy="846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237133" y="4944533"/>
            <a:ext cx="42333" cy="8466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381066" y="5063066"/>
            <a:ext cx="2192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현재 Finding 분기</a:t>
            </a:r>
          </a:p>
        </p:txBody>
      </p:sp>
      <p:sp>
        <p:nvSpPr>
          <p:cNvPr id="81" name="TextBox 80"/>
          <p:cNvSpPr txBox="1"/>
          <p:nvPr/>
        </p:nvSpPr>
        <p:spPr>
          <a:xfrm>
            <a:off x="9381066" y="5452533"/>
            <a:ext cx="2192866" cy="2878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있음: HITL / 없음: 종료</a:t>
            </a:r>
          </a:p>
        </p:txBody>
      </p:sp>
      <p:cxnSp>
        <p:nvCxnSpPr>
          <p:cNvPr id="82" name="Connector 81"/>
          <p:cNvCxnSpPr/>
          <p:nvPr/>
        </p:nvCxnSpPr>
        <p:spPr>
          <a:xfrm>
            <a:off x="6045200" y="5367866"/>
            <a:ext cx="355600" cy="0"/>
          </a:xfrm>
          <a:prstGeom prst="line">
            <a:avLst/>
          </a:prstGeom>
          <a:ln w="16933">
            <a:solidFill>
              <a:srgbClr val="64748B"/>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881533" y="5367866"/>
            <a:ext cx="355600" cy="0"/>
          </a:xfrm>
          <a:prstGeom prst="line">
            <a:avLst/>
          </a:prstGeom>
          <a:ln w="16933">
            <a:solidFill>
              <a:srgbClr val="64748B"/>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1565466" y="3725333"/>
            <a:ext cx="287867" cy="0"/>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1853333" y="3725333"/>
            <a:ext cx="0" cy="1151467"/>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4809066" y="4876800"/>
            <a:ext cx="7044267" cy="0"/>
          </a:xfrm>
          <a:prstGeom prst="line">
            <a:avLst/>
          </a:prstGeom>
          <a:ln w="16933">
            <a:solidFill>
              <a:srgbClr val="365DA3"/>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809066" y="4876800"/>
            <a:ext cx="0" cy="67733"/>
          </a:xfrm>
          <a:prstGeom prst="line">
            <a:avLst/>
          </a:prstGeom>
          <a:ln w="16933">
            <a:solidFill>
              <a:srgbClr val="365DA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239000" y="4631266"/>
            <a:ext cx="3725333" cy="237066"/>
          </a:xfrm>
          <a:prstGeom prst="rect">
            <a:avLst/>
          </a:prstGeom>
          <a:noFill/>
        </p:spPr>
        <p:txBody>
          <a:bodyPr wrap="square" lIns="0" rIns="0" tIns="0" bIns="0" anchor="t">
            <a:spAutoFit/>
          </a:bodyPr>
          <a:lstStyle/>
          <a:p>
            <a:pPr algn="l">
              <a:lnSpc>
                <a:spcPct val="118000"/>
              </a:lnSpc>
              <a:spcBef>
                <a:spcPts val="0"/>
              </a:spcBef>
              <a:spcAft>
                <a:spcPts val="0"/>
              </a:spcAft>
            </a:pPr>
            <a:r>
              <a:rPr sz="1333" b="1">
                <a:solidFill>
                  <a:srgbClr val="365DA3"/>
                </a:solidFill>
                <a:latin typeface="Apple SD Gothic Neo"/>
                <a:ea typeface="Apple SD Gothic Neo"/>
              </a:rPr>
              <a:t>종료 요청 + 근거 충족</a:t>
            </a:r>
          </a:p>
        </p:txBody>
      </p:sp>
      <p:sp>
        <p:nvSpPr>
          <p:cNvPr id="89" name="Rectangle 88"/>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조사할 규칙·변경이 없으면 루프를 건너뜁니다. Red / Blue는 한 Agent 안의 분석 단계입니다.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모델 선택 → 관측 → 근거 기반 답변</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모델의 선택과 근거 인용을 실행 기록으로 확인합니다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AI Agent 구현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15점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기록: docs/AGENT_HARNESS.md · 2026-10-19 LOCAL_DEMO · scan 3e963769…</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05</a:t>
            </a:r>
          </a:p>
        </p:txBody>
      </p:sp>
      <p:sp>
        <p:nvSpPr>
          <p:cNvPr id="11" name="Rectangle 10"/>
          <p:cNvSpPr/>
          <p:nvPr/>
        </p:nvSpPr>
        <p:spPr>
          <a:xfrm>
            <a:off x="474133" y="1193800"/>
            <a:ext cx="3081866" cy="3048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8800" y="1227666"/>
            <a:ext cx="2912533" cy="237066"/>
          </a:xfrm>
          <a:prstGeom prst="rect">
            <a:avLst/>
          </a:prstGeom>
          <a:noFill/>
        </p:spPr>
        <p:txBody>
          <a:bodyPr wrap="square" lIns="0" rIns="0" tIns="0" bIns="0" anchor="ctr">
            <a:spAutoFit/>
          </a:bodyPr>
          <a:lstStyle/>
          <a:p>
            <a:pPr algn="l">
              <a:lnSpc>
                <a:spcPct val="118000"/>
              </a:lnSpc>
              <a:spcBef>
                <a:spcPts val="0"/>
              </a:spcBef>
              <a:spcAft>
                <a:spcPts val="0"/>
              </a:spcAft>
            </a:pPr>
            <a:r>
              <a:rPr sz="1333" b="1">
                <a:solidFill>
                  <a:srgbClr val="365DA3"/>
                </a:solidFill>
                <a:latin typeface="Apple SD Gothic Neo"/>
                <a:ea typeface="Apple SD Gothic Neo"/>
              </a:rPr>
              <a:t>실제 LOCAL_DEMO 실행 기록</a:t>
            </a:r>
          </a:p>
        </p:txBody>
      </p:sp>
      <p:sp>
        <p:nvSpPr>
          <p:cNvPr id="13" name="TextBox 12"/>
          <p:cNvSpPr txBox="1"/>
          <p:nvPr/>
        </p:nvSpPr>
        <p:spPr>
          <a:xfrm>
            <a:off x="3852333" y="1227666"/>
            <a:ext cx="7620000" cy="287866"/>
          </a:xfrm>
          <a:prstGeom prst="rect">
            <a:avLst/>
          </a:prstGeom>
          <a:noFill/>
        </p:spPr>
        <p:txBody>
          <a:bodyPr wrap="square" lIns="0" rIns="0" tIns="0" bIns="0" anchor="t">
            <a:spAutoFit/>
          </a:bodyPr>
          <a:lstStyle/>
          <a:p>
            <a:pPr algn="l">
              <a:lnSpc>
                <a:spcPct val="118000"/>
              </a:lnSpc>
              <a:spcBef>
                <a:spcPts val="0"/>
              </a:spcBef>
              <a:spcAft>
                <a:spcPts val="0"/>
              </a:spcAft>
            </a:pPr>
            <a:r>
              <a:rPr sz="1866" b="1">
                <a:solidFill>
                  <a:srgbClr val="152840"/>
                </a:solidFill>
                <a:latin typeface="Apple SD Gothic Neo"/>
                <a:ea typeface="Apple SD Gothic Neo"/>
              </a:rPr>
              <a:t>모델 선택 5턴  ·  리뷰 배치 2회  ·  gpt-4.1-mini</a:t>
            </a:r>
          </a:p>
        </p:txBody>
      </p:sp>
      <p:cxnSp>
        <p:nvCxnSpPr>
          <p:cNvPr id="14" name="Connector 13"/>
          <p:cNvCxnSpPr/>
          <p:nvPr/>
        </p:nvCxnSpPr>
        <p:spPr>
          <a:xfrm>
            <a:off x="643466" y="2057400"/>
            <a:ext cx="0" cy="457200"/>
          </a:xfrm>
          <a:prstGeom prst="line">
            <a:avLst/>
          </a:prstGeom>
          <a:ln w="16933">
            <a:solidFill>
              <a:srgbClr val="D7DFE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91066" y="17949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066" y="17949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1</a:t>
            </a:r>
          </a:p>
        </p:txBody>
      </p:sp>
      <p:sp>
        <p:nvSpPr>
          <p:cNvPr id="17" name="TextBox 16"/>
          <p:cNvSpPr txBox="1"/>
          <p:nvPr/>
        </p:nvSpPr>
        <p:spPr>
          <a:xfrm>
            <a:off x="948266" y="1761066"/>
            <a:ext cx="6316133" cy="3048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rial"/>
                <a:ea typeface="Apple SD Gothic Neo"/>
              </a:rPr>
              <a:t>get_privacy_policy</a:t>
            </a:r>
          </a:p>
        </p:txBody>
      </p:sp>
      <p:sp>
        <p:nvSpPr>
          <p:cNvPr id="18" name="TextBox 17"/>
          <p:cNvSpPr txBox="1"/>
          <p:nvPr/>
        </p:nvSpPr>
        <p:spPr>
          <a:xfrm>
            <a:off x="948266" y="2099733"/>
            <a:ext cx="6316133"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검사 접수 시점의 정책 조회</a:t>
            </a:r>
          </a:p>
        </p:txBody>
      </p:sp>
      <p:cxnSp>
        <p:nvCxnSpPr>
          <p:cNvPr id="19" name="Connector 18"/>
          <p:cNvCxnSpPr/>
          <p:nvPr/>
        </p:nvCxnSpPr>
        <p:spPr>
          <a:xfrm>
            <a:off x="643466" y="2810933"/>
            <a:ext cx="0" cy="457200"/>
          </a:xfrm>
          <a:prstGeom prst="line">
            <a:avLst/>
          </a:prstGeom>
          <a:ln w="16933">
            <a:solidFill>
              <a:srgbClr val="D7DFE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91066" y="25484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1066" y="25484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2</a:t>
            </a:r>
          </a:p>
        </p:txBody>
      </p:sp>
      <p:sp>
        <p:nvSpPr>
          <p:cNvPr id="22" name="TextBox 21"/>
          <p:cNvSpPr txBox="1"/>
          <p:nvPr/>
        </p:nvSpPr>
        <p:spPr>
          <a:xfrm>
            <a:off x="948266" y="2514600"/>
            <a:ext cx="6316133" cy="3048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rial"/>
                <a:ea typeface="Apple SD Gothic Neo"/>
              </a:rPr>
              <a:t>compare_policy_with_findings</a:t>
            </a:r>
          </a:p>
        </p:txBody>
      </p:sp>
      <p:sp>
        <p:nvSpPr>
          <p:cNvPr id="23" name="TextBox 22"/>
          <p:cNvSpPr txBox="1"/>
          <p:nvPr/>
        </p:nvSpPr>
        <p:spPr>
          <a:xfrm>
            <a:off x="948266" y="2853266"/>
            <a:ext cx="6316133"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필드를 승인·제한 목록과 대조</a:t>
            </a:r>
          </a:p>
        </p:txBody>
      </p:sp>
      <p:cxnSp>
        <p:nvCxnSpPr>
          <p:cNvPr id="24" name="Connector 23"/>
          <p:cNvCxnSpPr/>
          <p:nvPr/>
        </p:nvCxnSpPr>
        <p:spPr>
          <a:xfrm>
            <a:off x="643466" y="3564466"/>
            <a:ext cx="0" cy="457200"/>
          </a:xfrm>
          <a:prstGeom prst="line">
            <a:avLst/>
          </a:prstGeom>
          <a:ln w="16933">
            <a:solidFill>
              <a:srgbClr val="D7DFE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91066" y="3302000"/>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1066" y="3302000"/>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3</a:t>
            </a:r>
          </a:p>
        </p:txBody>
      </p:sp>
      <p:sp>
        <p:nvSpPr>
          <p:cNvPr id="27" name="TextBox 26"/>
          <p:cNvSpPr txBox="1"/>
          <p:nvPr/>
        </p:nvSpPr>
        <p:spPr>
          <a:xfrm>
            <a:off x="948266" y="3268133"/>
            <a:ext cx="6316133" cy="3048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rial"/>
                <a:ea typeface="Apple SD Gothic Neo"/>
              </a:rPr>
              <a:t>search_internal_privacy_policy</a:t>
            </a:r>
          </a:p>
        </p:txBody>
      </p:sp>
      <p:sp>
        <p:nvSpPr>
          <p:cNvPr id="28" name="TextBox 27"/>
          <p:cNvSpPr txBox="1"/>
          <p:nvPr/>
        </p:nvSpPr>
        <p:spPr>
          <a:xfrm>
            <a:off x="948266" y="3606800"/>
            <a:ext cx="6316133"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사내 정책의 조항 근거 확보</a:t>
            </a:r>
          </a:p>
        </p:txBody>
      </p:sp>
      <p:cxnSp>
        <p:nvCxnSpPr>
          <p:cNvPr id="29" name="Connector 28"/>
          <p:cNvCxnSpPr/>
          <p:nvPr/>
        </p:nvCxnSpPr>
        <p:spPr>
          <a:xfrm>
            <a:off x="643466" y="4318000"/>
            <a:ext cx="0" cy="457200"/>
          </a:xfrm>
          <a:prstGeom prst="line">
            <a:avLst/>
          </a:prstGeom>
          <a:ln w="16933">
            <a:solidFill>
              <a:srgbClr val="D7DFE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91066" y="40555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066" y="40555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4</a:t>
            </a:r>
          </a:p>
        </p:txBody>
      </p:sp>
      <p:sp>
        <p:nvSpPr>
          <p:cNvPr id="32" name="TextBox 31"/>
          <p:cNvSpPr txBox="1"/>
          <p:nvPr/>
        </p:nvSpPr>
        <p:spPr>
          <a:xfrm>
            <a:off x="948266" y="4021666"/>
            <a:ext cx="6316133" cy="3048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rial"/>
                <a:ea typeface="Apple SD Gothic Neo"/>
              </a:rPr>
              <a:t>search_security_guidelines</a:t>
            </a:r>
          </a:p>
        </p:txBody>
      </p:sp>
      <p:sp>
        <p:nvSpPr>
          <p:cNvPr id="33" name="TextBox 32"/>
          <p:cNvSpPr txBox="1"/>
          <p:nvPr/>
        </p:nvSpPr>
        <p:spPr>
          <a:xfrm>
            <a:off x="948266" y="4360333"/>
            <a:ext cx="6316133"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외부 참조집의 관련 근거 확보</a:t>
            </a:r>
          </a:p>
        </p:txBody>
      </p:sp>
      <p:sp>
        <p:nvSpPr>
          <p:cNvPr id="34" name="Oval 33"/>
          <p:cNvSpPr/>
          <p:nvPr/>
        </p:nvSpPr>
        <p:spPr>
          <a:xfrm>
            <a:off x="491066" y="48090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066" y="48090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5</a:t>
            </a:r>
          </a:p>
        </p:txBody>
      </p:sp>
      <p:sp>
        <p:nvSpPr>
          <p:cNvPr id="36" name="TextBox 35"/>
          <p:cNvSpPr txBox="1"/>
          <p:nvPr/>
        </p:nvSpPr>
        <p:spPr>
          <a:xfrm>
            <a:off x="948266" y="4775200"/>
            <a:ext cx="6316133" cy="3048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rial"/>
                <a:ea typeface="Apple SD Gothic Neo"/>
              </a:rPr>
              <a:t>finish_analysis</a:t>
            </a:r>
          </a:p>
        </p:txBody>
      </p:sp>
      <p:sp>
        <p:nvSpPr>
          <p:cNvPr id="37" name="TextBox 36"/>
          <p:cNvSpPr txBox="1"/>
          <p:nvPr/>
        </p:nvSpPr>
        <p:spPr>
          <a:xfrm>
            <a:off x="948266" y="5113866"/>
            <a:ext cx="6316133"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필수 근거 확인 후 종료 · 로컬 제어</a:t>
            </a:r>
          </a:p>
        </p:txBody>
      </p:sp>
      <p:sp>
        <p:nvSpPr>
          <p:cNvPr id="38" name="Rectangle 37"/>
          <p:cNvSpPr/>
          <p:nvPr/>
        </p:nvSpPr>
        <p:spPr>
          <a:xfrm>
            <a:off x="7670800" y="1752600"/>
            <a:ext cx="4047066" cy="37676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82466" y="1938866"/>
            <a:ext cx="3623733" cy="338666"/>
          </a:xfrm>
          <a:prstGeom prst="rect">
            <a:avLst/>
          </a:prstGeom>
          <a:noFill/>
        </p:spPr>
        <p:txBody>
          <a:bodyPr wrap="square" lIns="0" rIns="0" tIns="0" bIns="0" anchor="t">
            <a:spAutoFit/>
          </a:bodyPr>
          <a:lstStyle/>
          <a:p>
            <a:pPr algn="l">
              <a:lnSpc>
                <a:spcPct val="118000"/>
              </a:lnSpc>
              <a:spcBef>
                <a:spcPts val="0"/>
              </a:spcBef>
              <a:spcAft>
                <a:spcPts val="0"/>
              </a:spcAft>
            </a:pPr>
            <a:r>
              <a:rPr sz="2000" b="1">
                <a:solidFill>
                  <a:srgbClr val="152840"/>
                </a:solidFill>
                <a:latin typeface="Apple SD Gothic Neo"/>
                <a:ea typeface="Apple SD Gothic Neo"/>
              </a:rPr>
              <a:t>근거가 답변을 제한</a:t>
            </a:r>
          </a:p>
        </p:txBody>
      </p:sp>
      <p:sp>
        <p:nvSpPr>
          <p:cNvPr id="40" name="TextBox 39"/>
          <p:cNvSpPr txBox="1"/>
          <p:nvPr/>
        </p:nvSpPr>
        <p:spPr>
          <a:xfrm>
            <a:off x="7907866" y="2480733"/>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365DA3"/>
                </a:solidFill>
                <a:latin typeface="Apple SD Gothic Neo"/>
                <a:ea typeface="Apple SD Gothic Neo"/>
              </a:rPr>
              <a:t>정적 사실</a:t>
            </a:r>
          </a:p>
        </p:txBody>
      </p:sp>
      <p:sp>
        <p:nvSpPr>
          <p:cNvPr id="41" name="TextBox 40"/>
          <p:cNvSpPr txBox="1"/>
          <p:nvPr/>
        </p:nvSpPr>
        <p:spPr>
          <a:xfrm>
            <a:off x="7907866" y="2810933"/>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규칙 · 위치 · 마스킹 근거</a:t>
            </a:r>
          </a:p>
        </p:txBody>
      </p:sp>
      <p:sp>
        <p:nvSpPr>
          <p:cNvPr id="42" name="TextBox 41"/>
          <p:cNvSpPr txBox="1"/>
          <p:nvPr/>
        </p:nvSpPr>
        <p:spPr>
          <a:xfrm>
            <a:off x="7907866" y="3327400"/>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365DA3"/>
                </a:solidFill>
                <a:latin typeface="Apple SD Gothic Neo"/>
                <a:ea typeface="Apple SD Gothic Neo"/>
              </a:rPr>
              <a:t>정책·문서</a:t>
            </a:r>
          </a:p>
        </p:txBody>
      </p:sp>
      <p:sp>
        <p:nvSpPr>
          <p:cNvPr id="43" name="TextBox 42"/>
          <p:cNvSpPr txBox="1"/>
          <p:nvPr/>
        </p:nvSpPr>
        <p:spPr>
          <a:xfrm>
            <a:off x="7907866" y="3657600"/>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문서 ID · 조항 · 페이지</a:t>
            </a:r>
          </a:p>
        </p:txBody>
      </p:sp>
      <p:sp>
        <p:nvSpPr>
          <p:cNvPr id="44" name="TextBox 43"/>
          <p:cNvSpPr txBox="1"/>
          <p:nvPr/>
        </p:nvSpPr>
        <p:spPr>
          <a:xfrm>
            <a:off x="7907866" y="4174066"/>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365DA3"/>
                </a:solidFill>
                <a:latin typeface="Apple SD Gothic Neo"/>
                <a:ea typeface="Apple SD Gothic Neo"/>
              </a:rPr>
              <a:t>검증된 리뷰</a:t>
            </a:r>
          </a:p>
        </p:txBody>
      </p:sp>
      <p:sp>
        <p:nvSpPr>
          <p:cNvPr id="45" name="TextBox 44"/>
          <p:cNvSpPr txBox="1"/>
          <p:nvPr/>
        </p:nvSpPr>
        <p:spPr>
          <a:xfrm>
            <a:off x="7907866" y="4504266"/>
            <a:ext cx="3556000" cy="287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Red / Blue · 미확인 사항</a:t>
            </a:r>
          </a:p>
        </p:txBody>
      </p:sp>
      <p:sp>
        <p:nvSpPr>
          <p:cNvPr id="46" name="TextBox 45"/>
          <p:cNvSpPr txBox="1"/>
          <p:nvPr/>
        </p:nvSpPr>
        <p:spPr>
          <a:xfrm>
            <a:off x="7899400" y="5080000"/>
            <a:ext cx="3572933" cy="287866"/>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FF6B35"/>
                </a:solidFill>
                <a:latin typeface="Apple SD Gothic Neo"/>
                <a:ea typeface="Apple SD Gothic Neo"/>
              </a:rPr>
              <a:t>허용된 ID·인용만 수락</a:t>
            </a:r>
          </a:p>
        </p:txBody>
      </p:sp>
      <p:sp>
        <p:nvSpPr>
          <p:cNvPr id="47" name="Rectangle 46"/>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trace의 LLM / RULE_BASED / LLM_FALLBACK을 구분합니다. 고정 초기 조회는 모델 선택으로 세지 않습니다.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CHECKPOINT · HITL · RECOVERY</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보고서는 보존하고, 승인된 후속 작업만 재개합니다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AI Agent 구현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15점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app.py · graph.py · ApiController.java · KafkaPipeline.java · verification.json</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06</a:t>
            </a:r>
          </a:p>
        </p:txBody>
      </p:sp>
      <p:sp>
        <p:nvSpPr>
          <p:cNvPr id="11" name="TextBox 10"/>
          <p:cNvSpPr txBox="1"/>
          <p:nvPr/>
        </p:nvSpPr>
        <p:spPr>
          <a:xfrm>
            <a:off x="474133" y="1193800"/>
            <a:ext cx="10922000" cy="347133"/>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152840"/>
                </a:solidFill>
                <a:latin typeface="Apple SD Gothic Neo"/>
                <a:ea typeface="Apple SD Gothic Neo"/>
              </a:rPr>
              <a:t>thread_id = scanId  ·  승인 결정은 메시지 내용만 믿지 않고 DB에서 다시 읽습니다.</a:t>
            </a:r>
          </a:p>
        </p:txBody>
      </p:sp>
      <p:sp>
        <p:nvSpPr>
          <p:cNvPr id="12" name="Oval 11"/>
          <p:cNvSpPr/>
          <p:nvPr/>
        </p:nvSpPr>
        <p:spPr>
          <a:xfrm>
            <a:off x="474133" y="17695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133" y="17695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1</a:t>
            </a:r>
          </a:p>
        </p:txBody>
      </p:sp>
      <p:sp>
        <p:nvSpPr>
          <p:cNvPr id="14" name="Rectangle 13"/>
          <p:cNvSpPr/>
          <p:nvPr/>
        </p:nvSpPr>
        <p:spPr>
          <a:xfrm>
            <a:off x="474133" y="2192866"/>
            <a:ext cx="2658533" cy="1295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4133" y="2192866"/>
            <a:ext cx="42333" cy="12954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066" y="2311400"/>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보고서 발행 후 대기</a:t>
            </a:r>
          </a:p>
        </p:txBody>
      </p:sp>
      <p:sp>
        <p:nvSpPr>
          <p:cNvPr id="17" name="TextBox 16"/>
          <p:cNvSpPr txBox="1"/>
          <p:nvPr/>
        </p:nvSpPr>
        <p:spPr>
          <a:xfrm>
            <a:off x="618066" y="2700866"/>
            <a:ext cx="2370666" cy="7366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검토 요청 → interrupt()</a:t>
            </a:r>
          </a:p>
          <a:p>
            <a:pPr algn="l">
              <a:lnSpc>
                <a:spcPct val="118000"/>
              </a:lnSpc>
              <a:spcBef>
                <a:spcPts val="0"/>
              </a:spcBef>
              <a:spcAft>
                <a:spcPts val="0"/>
              </a:spcAft>
            </a:pPr>
            <a:r>
              <a:rPr sz="1600" b="0">
                <a:solidFill>
                  <a:srgbClr val="64748B"/>
                </a:solidFill>
                <a:latin typeface="Apple SD Gothic Neo"/>
                <a:ea typeface="Apple SD Gothic Neo"/>
              </a:rPr>
              <a:t>PostgreSQL checkpoint</a:t>
            </a:r>
          </a:p>
        </p:txBody>
      </p:sp>
      <p:cxnSp>
        <p:nvCxnSpPr>
          <p:cNvPr id="18" name="Connector 17"/>
          <p:cNvCxnSpPr/>
          <p:nvPr/>
        </p:nvCxnSpPr>
        <p:spPr>
          <a:xfrm>
            <a:off x="3132666" y="2802466"/>
            <a:ext cx="203200"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335866" y="17695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5866" y="17695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2</a:t>
            </a:r>
          </a:p>
        </p:txBody>
      </p:sp>
      <p:sp>
        <p:nvSpPr>
          <p:cNvPr id="21" name="Rectangle 20"/>
          <p:cNvSpPr/>
          <p:nvPr/>
        </p:nvSpPr>
        <p:spPr>
          <a:xfrm>
            <a:off x="3335866" y="2192866"/>
            <a:ext cx="2658533" cy="1295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35866" y="2192866"/>
            <a:ext cx="42333" cy="12954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9800" y="2311400"/>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검토자의 승인 / 거절</a:t>
            </a:r>
          </a:p>
        </p:txBody>
      </p:sp>
      <p:sp>
        <p:nvSpPr>
          <p:cNvPr id="24" name="TextBox 23"/>
          <p:cNvSpPr txBox="1"/>
          <p:nvPr/>
        </p:nvSpPr>
        <p:spPr>
          <a:xfrm>
            <a:off x="3479800" y="2700866"/>
            <a:ext cx="2370666" cy="7366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Backend 결정 + Outbox</a:t>
            </a:r>
          </a:p>
          <a:p>
            <a:pPr algn="l">
              <a:lnSpc>
                <a:spcPct val="118000"/>
              </a:lnSpc>
              <a:spcBef>
                <a:spcPts val="0"/>
              </a:spcBef>
              <a:spcAft>
                <a:spcPts val="0"/>
              </a:spcAft>
            </a:pPr>
            <a:r>
              <a:rPr sz="1600" b="0">
                <a:solidFill>
                  <a:srgbClr val="64748B"/>
                </a:solidFill>
                <a:latin typeface="Apple SD Gothic Neo"/>
                <a:ea typeface="Apple SD Gothic Neo"/>
              </a:rPr>
              <a:t>동일 트랜잭션 저장</a:t>
            </a:r>
          </a:p>
        </p:txBody>
      </p:sp>
      <p:cxnSp>
        <p:nvCxnSpPr>
          <p:cNvPr id="25" name="Connector 24"/>
          <p:cNvCxnSpPr/>
          <p:nvPr/>
        </p:nvCxnSpPr>
        <p:spPr>
          <a:xfrm>
            <a:off x="5994400" y="2802466"/>
            <a:ext cx="203200"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197600" y="17695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7600" y="17695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3</a:t>
            </a:r>
          </a:p>
        </p:txBody>
      </p:sp>
      <p:sp>
        <p:nvSpPr>
          <p:cNvPr id="28" name="Rectangle 27"/>
          <p:cNvSpPr/>
          <p:nvPr/>
        </p:nvSpPr>
        <p:spPr>
          <a:xfrm>
            <a:off x="6197600" y="2192866"/>
            <a:ext cx="2658533" cy="1295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7600" y="2192866"/>
            <a:ext cx="42333" cy="12954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1533" y="2311400"/>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같은 토픽으로 전달</a:t>
            </a:r>
          </a:p>
        </p:txBody>
      </p:sp>
      <p:sp>
        <p:nvSpPr>
          <p:cNvPr id="31" name="TextBox 30"/>
          <p:cNvSpPr txBox="1"/>
          <p:nvPr/>
        </p:nvSpPr>
        <p:spPr>
          <a:xfrm>
            <a:off x="6341533" y="2700866"/>
            <a:ext cx="2370666" cy="7366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scan.request</a:t>
            </a:r>
          </a:p>
          <a:p>
            <a:pPr algn="l">
              <a:lnSpc>
                <a:spcPct val="118000"/>
              </a:lnSpc>
              <a:spcBef>
                <a:spcPts val="0"/>
              </a:spcBef>
              <a:spcAft>
                <a:spcPts val="0"/>
              </a:spcAft>
            </a:pPr>
            <a:r>
              <a:rPr sz="1600" b="0">
                <a:solidFill>
                  <a:srgbClr val="64748B"/>
                </a:solidFill>
                <a:latin typeface="Apple SD Gothic Neo"/>
                <a:ea typeface="Apple SD Gothic Neo"/>
              </a:rPr>
              <a:t>APPROVAL_DECIDED</a:t>
            </a:r>
          </a:p>
        </p:txBody>
      </p:sp>
      <p:cxnSp>
        <p:nvCxnSpPr>
          <p:cNvPr id="32" name="Connector 31"/>
          <p:cNvCxnSpPr/>
          <p:nvPr/>
        </p:nvCxnSpPr>
        <p:spPr>
          <a:xfrm>
            <a:off x="8856133" y="2802466"/>
            <a:ext cx="203200"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059333" y="1769533"/>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59333" y="1769533"/>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4</a:t>
            </a:r>
          </a:p>
        </p:txBody>
      </p:sp>
      <p:sp>
        <p:nvSpPr>
          <p:cNvPr id="35" name="Rectangle 34"/>
          <p:cNvSpPr/>
          <p:nvPr/>
        </p:nvSpPr>
        <p:spPr>
          <a:xfrm>
            <a:off x="9059333" y="2192866"/>
            <a:ext cx="2658533" cy="1295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59333" y="2192866"/>
            <a:ext cx="42333" cy="12954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03266" y="2311400"/>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영속 상태 확인 · 재개</a:t>
            </a:r>
          </a:p>
        </p:txBody>
      </p:sp>
      <p:sp>
        <p:nvSpPr>
          <p:cNvPr id="38" name="TextBox 37"/>
          <p:cNvSpPr txBox="1"/>
          <p:nvPr/>
        </p:nvSpPr>
        <p:spPr>
          <a:xfrm>
            <a:off x="9203266" y="2700866"/>
            <a:ext cx="2370666" cy="7366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승인 상태 재조회</a:t>
            </a:r>
          </a:p>
          <a:p>
            <a:pPr algn="l">
              <a:lnSpc>
                <a:spcPct val="118000"/>
              </a:lnSpc>
              <a:spcBef>
                <a:spcPts val="0"/>
              </a:spcBef>
              <a:spcAft>
                <a:spcPts val="0"/>
              </a:spcAft>
            </a:pPr>
            <a:r>
              <a:rPr sz="1600" b="0">
                <a:solidFill>
                  <a:srgbClr val="64748B"/>
                </a:solidFill>
                <a:latin typeface="Apple SD Gothic Neo"/>
                <a:ea typeface="Apple SD Gothic Neo"/>
              </a:rPr>
              <a:t>Command(resume)</a:t>
            </a:r>
          </a:p>
        </p:txBody>
      </p:sp>
      <p:sp>
        <p:nvSpPr>
          <p:cNvPr id="39" name="Rectangle 38"/>
          <p:cNvSpPr/>
          <p:nvPr/>
        </p:nvSpPr>
        <p:spPr>
          <a:xfrm>
            <a:off x="474133" y="3920066"/>
            <a:ext cx="5452533" cy="8636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4133" y="3920066"/>
            <a:ext cx="42333" cy="863600"/>
          </a:xfrm>
          <a:prstGeom prst="rect">
            <a:avLst/>
          </a:prstGeom>
          <a:solidFill>
            <a:srgbClr val="2472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8066" y="4038600"/>
            <a:ext cx="5164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APPROVED → 내부 이슈 1건</a:t>
            </a:r>
          </a:p>
        </p:txBody>
      </p:sp>
      <p:sp>
        <p:nvSpPr>
          <p:cNvPr id="42" name="TextBox 41"/>
          <p:cNvSpPr txBox="1"/>
          <p:nvPr/>
        </p:nvSpPr>
        <p:spPr>
          <a:xfrm>
            <a:off x="618066" y="4428066"/>
            <a:ext cx="5164666" cy="3048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Backend 승인 재검증 · approval별 멱등 처리</a:t>
            </a:r>
          </a:p>
        </p:txBody>
      </p:sp>
      <p:sp>
        <p:nvSpPr>
          <p:cNvPr id="43" name="Rectangle 42"/>
          <p:cNvSpPr/>
          <p:nvPr/>
        </p:nvSpPr>
        <p:spPr>
          <a:xfrm>
            <a:off x="6265333" y="3920066"/>
            <a:ext cx="5452533" cy="8636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65333" y="3920066"/>
            <a:ext cx="42333" cy="863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9266" y="4038600"/>
            <a:ext cx="5164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REJECTED → 이슈 생성 없이 종료</a:t>
            </a:r>
          </a:p>
        </p:txBody>
      </p:sp>
      <p:sp>
        <p:nvSpPr>
          <p:cNvPr id="46" name="TextBox 45"/>
          <p:cNvSpPr txBox="1"/>
          <p:nvPr/>
        </p:nvSpPr>
        <p:spPr>
          <a:xfrm>
            <a:off x="6409266" y="4428066"/>
            <a:ext cx="5164666" cy="3048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코드 변경 · 외부 GitHub 이슈 · 운영 배포 없음</a:t>
            </a:r>
          </a:p>
        </p:txBody>
      </p:sp>
      <p:sp>
        <p:nvSpPr>
          <p:cNvPr id="47" name="TextBox 46"/>
          <p:cNvSpPr txBox="1"/>
          <p:nvPr/>
        </p:nvSpPr>
        <p:spPr>
          <a:xfrm>
            <a:off x="474133" y="5080000"/>
            <a:ext cx="11243733" cy="270933"/>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실패 경로도 분리해 무한 재시도를 막습니다.</a:t>
            </a:r>
          </a:p>
        </p:txBody>
      </p:sp>
      <p:sp>
        <p:nvSpPr>
          <p:cNvPr id="48" name="TextBox 47"/>
          <p:cNvSpPr txBox="1"/>
          <p:nvPr/>
        </p:nvSpPr>
        <p:spPr>
          <a:xfrm>
            <a:off x="474133" y="5452533"/>
            <a:ext cx="3606800" cy="245533"/>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365DA3"/>
                </a:solidFill>
                <a:latin typeface="Apple SD Gothic Neo"/>
                <a:ea typeface="Apple SD Gothic Neo"/>
              </a:rPr>
              <a:t>Outbox</a:t>
            </a:r>
          </a:p>
        </p:txBody>
      </p:sp>
      <p:sp>
        <p:nvSpPr>
          <p:cNvPr id="49" name="TextBox 48"/>
          <p:cNvSpPr txBox="1"/>
          <p:nvPr/>
        </p:nvSpPr>
        <p:spPr>
          <a:xfrm>
            <a:off x="474133" y="5765800"/>
            <a:ext cx="36068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최대 3회 → QUEUED 검사 FAILED</a:t>
            </a:r>
          </a:p>
        </p:txBody>
      </p:sp>
      <p:sp>
        <p:nvSpPr>
          <p:cNvPr id="50" name="TextBox 49"/>
          <p:cNvSpPr txBox="1"/>
          <p:nvPr/>
        </p:nvSpPr>
        <p:spPr>
          <a:xfrm>
            <a:off x="4292600" y="5452533"/>
            <a:ext cx="3606800" cy="245533"/>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365DA3"/>
                </a:solidFill>
                <a:latin typeface="Apple SD Gothic Neo"/>
                <a:ea typeface="Apple SD Gothic Neo"/>
              </a:rPr>
              <a:t>Agent Worker</a:t>
            </a:r>
          </a:p>
        </p:txBody>
      </p:sp>
      <p:sp>
        <p:nvSpPr>
          <p:cNvPr id="51" name="TextBox 50"/>
          <p:cNvSpPr txBox="1"/>
          <p:nvPr/>
        </p:nvSpPr>
        <p:spPr>
          <a:xfrm>
            <a:off x="4292600" y="5765800"/>
            <a:ext cx="36068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최대 2회 → scan.dlq</a:t>
            </a:r>
          </a:p>
        </p:txBody>
      </p:sp>
      <p:sp>
        <p:nvSpPr>
          <p:cNvPr id="52" name="TextBox 51"/>
          <p:cNvSpPr txBox="1"/>
          <p:nvPr/>
        </p:nvSpPr>
        <p:spPr>
          <a:xfrm>
            <a:off x="8111066" y="5452533"/>
            <a:ext cx="3606800" cy="245533"/>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365DA3"/>
                </a:solidFill>
                <a:latin typeface="Apple SD Gothic Neo"/>
                <a:ea typeface="Apple SD Gothic Neo"/>
              </a:rPr>
              <a:t>Backend 소비</a:t>
            </a:r>
          </a:p>
        </p:txBody>
      </p:sp>
      <p:sp>
        <p:nvSpPr>
          <p:cNvPr id="53" name="TextBox 52"/>
          <p:cNvSpPr txBox="1"/>
          <p:nvPr/>
        </p:nvSpPr>
        <p:spPr>
          <a:xfrm>
            <a:off x="8111066" y="5765800"/>
            <a:ext cx="36068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초기 + 2회 → 원본 토픽 .DLT</a:t>
            </a:r>
          </a:p>
        </p:txBody>
      </p:sp>
      <p:sp>
        <p:nvSpPr>
          <p:cNvPr id="54" name="TextBox 53"/>
          <p:cNvSpPr txBox="1"/>
          <p:nvPr/>
        </p:nvSpPr>
        <p:spPr>
          <a:xfrm>
            <a:off x="474133" y="6189133"/>
            <a:ext cx="11243733" cy="211666"/>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64748B"/>
                </a:solidFill>
                <a:latin typeface="Apple SD Gothic Neo"/>
                <a:ea typeface="Apple SD Gothic Neo"/>
              </a:rPr>
              <a:t>검사 완료 ≠ 후속 작업 승인 완료  ·  DLQ 자동 재처리와 강제 종료 복구 시험은 남은 과제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BUSINESS-MCP · RAG-MCP</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업무 도구와 문서 검색 도구의 책임을 나눴습니다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MCP 설계·구현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20점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mcp_servers/business.py · rag.py · planner.py READ_TOOLS</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07</a:t>
            </a:r>
          </a:p>
        </p:txBody>
      </p:sp>
      <p:sp>
        <p:nvSpPr>
          <p:cNvPr id="11" name="Rectangle 10"/>
          <p:cNvSpPr/>
          <p:nvPr/>
        </p:nvSpPr>
        <p:spPr>
          <a:xfrm>
            <a:off x="474133" y="1253066"/>
            <a:ext cx="6282266" cy="42502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27333" y="1253066"/>
            <a:ext cx="4690533" cy="42502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7333" y="1430866"/>
            <a:ext cx="5875866" cy="389466"/>
          </a:xfrm>
          <a:prstGeom prst="rect">
            <a:avLst/>
          </a:prstGeom>
          <a:noFill/>
        </p:spPr>
        <p:txBody>
          <a:bodyPr wrap="square" lIns="0" rIns="0" tIns="0" bIns="0" anchor="t">
            <a:spAutoFit/>
          </a:bodyPr>
          <a:lstStyle/>
          <a:p>
            <a:pPr algn="l">
              <a:lnSpc>
                <a:spcPct val="118000"/>
              </a:lnSpc>
              <a:spcBef>
                <a:spcPts val="0"/>
              </a:spcBef>
              <a:spcAft>
                <a:spcPts val="0"/>
              </a:spcAft>
            </a:pPr>
            <a:r>
              <a:rPr sz="2266" b="1">
                <a:solidFill>
                  <a:srgbClr val="247264"/>
                </a:solidFill>
                <a:latin typeface="Arial"/>
                <a:ea typeface="Apple SD Gothic Neo"/>
              </a:rPr>
              <a:t>business-mcp</a:t>
            </a:r>
          </a:p>
        </p:txBody>
      </p:sp>
      <p:sp>
        <p:nvSpPr>
          <p:cNvPr id="14" name="TextBox 13"/>
          <p:cNvSpPr txBox="1"/>
          <p:nvPr/>
        </p:nvSpPr>
        <p:spPr>
          <a:xfrm>
            <a:off x="677333" y="1854200"/>
            <a:ext cx="5875866" cy="2540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읽기 6개 + 변경 2개  /  Backend 내부 API</a:t>
            </a:r>
          </a:p>
        </p:txBody>
      </p:sp>
      <p:sp>
        <p:nvSpPr>
          <p:cNvPr id="15" name="TextBox 14"/>
          <p:cNvSpPr txBox="1"/>
          <p:nvPr/>
        </p:nvSpPr>
        <p:spPr>
          <a:xfrm>
            <a:off x="677333" y="2336800"/>
            <a:ext cx="1371600" cy="254000"/>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152840"/>
                </a:solidFill>
                <a:latin typeface="Apple SD Gothic Neo"/>
                <a:ea typeface="Apple SD Gothic Neo"/>
              </a:rPr>
              <a:t>고정 초기 조회</a:t>
            </a:r>
          </a:p>
        </p:txBody>
      </p:sp>
      <p:sp>
        <p:nvSpPr>
          <p:cNvPr id="16" name="TextBox 15"/>
          <p:cNvSpPr txBox="1"/>
          <p:nvPr/>
        </p:nvSpPr>
        <p:spPr>
          <a:xfrm>
            <a:off x="2201333" y="2319866"/>
            <a:ext cx="4351866" cy="719666"/>
          </a:xfrm>
          <a:prstGeom prst="rect">
            <a:avLst/>
          </a:prstGeom>
          <a:noFill/>
        </p:spPr>
        <p:txBody>
          <a:bodyPr wrap="square" lIns="0" rIns="0" tIns="0" bIns="0" anchor="t">
            <a:spAutoFit/>
          </a:bodyPr>
          <a:lstStyle/>
          <a:p>
            <a:pPr algn="l">
              <a:lnSpc>
                <a:spcPct val="145000"/>
              </a:lnSpc>
              <a:spcBef>
                <a:spcPts val="0"/>
              </a:spcBef>
              <a:spcAft>
                <a:spcPts val="0"/>
              </a:spcAft>
            </a:pPr>
            <a:r>
              <a:rPr sz="1533" b="0">
                <a:solidFill>
                  <a:srgbClr val="152840"/>
                </a:solidFill>
                <a:latin typeface="Arial"/>
                <a:ea typeface="Apple SD Gothic Neo"/>
              </a:rPr>
              <a:t>get_scan_context · get_scan_findings</a:t>
            </a:r>
          </a:p>
          <a:p>
            <a:pPr algn="l">
              <a:lnSpc>
                <a:spcPct val="145000"/>
              </a:lnSpc>
              <a:spcBef>
                <a:spcPts val="0"/>
              </a:spcBef>
              <a:spcAft>
                <a:spcPts val="0"/>
              </a:spcAft>
            </a:pPr>
            <a:r>
              <a:rPr sz="1533" b="0">
                <a:solidFill>
                  <a:srgbClr val="152840"/>
                </a:solidFill>
                <a:latin typeface="Arial"/>
                <a:ea typeface="Apple SD Gothic Neo"/>
              </a:rPr>
              <a:t>get_scan_changes</a:t>
            </a:r>
          </a:p>
        </p:txBody>
      </p:sp>
      <p:cxnSp>
        <p:nvCxnSpPr>
          <p:cNvPr id="17" name="Connector 16"/>
          <p:cNvCxnSpPr/>
          <p:nvPr/>
        </p:nvCxnSpPr>
        <p:spPr>
          <a:xfrm>
            <a:off x="677333" y="3090333"/>
            <a:ext cx="5875867"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77333" y="3302000"/>
            <a:ext cx="1371600" cy="254000"/>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152840"/>
                </a:solidFill>
                <a:latin typeface="Apple SD Gothic Neo"/>
                <a:ea typeface="Apple SD Gothic Neo"/>
              </a:rPr>
              <a:t>모델 선택 읽기</a:t>
            </a:r>
          </a:p>
        </p:txBody>
      </p:sp>
      <p:sp>
        <p:nvSpPr>
          <p:cNvPr id="19" name="TextBox 18"/>
          <p:cNvSpPr txBox="1"/>
          <p:nvPr/>
        </p:nvSpPr>
        <p:spPr>
          <a:xfrm>
            <a:off x="2201333" y="3276600"/>
            <a:ext cx="4351866" cy="872066"/>
          </a:xfrm>
          <a:prstGeom prst="rect">
            <a:avLst/>
          </a:prstGeom>
          <a:noFill/>
        </p:spPr>
        <p:txBody>
          <a:bodyPr wrap="square" lIns="0" rIns="0" tIns="0" bIns="0" anchor="t">
            <a:spAutoFit/>
          </a:bodyPr>
          <a:lstStyle/>
          <a:p>
            <a:pPr algn="l">
              <a:lnSpc>
                <a:spcPct val="145000"/>
              </a:lnSpc>
              <a:spcBef>
                <a:spcPts val="0"/>
              </a:spcBef>
              <a:spcAft>
                <a:spcPts val="0"/>
              </a:spcAft>
            </a:pPr>
            <a:r>
              <a:rPr sz="1533" b="0">
                <a:solidFill>
                  <a:srgbClr val="152840"/>
                </a:solidFill>
                <a:latin typeface="Arial"/>
                <a:ea typeface="Apple SD Gothic Neo"/>
              </a:rPr>
              <a:t>get_privacy_policy · get_scan_history</a:t>
            </a:r>
          </a:p>
          <a:p>
            <a:pPr algn="l">
              <a:lnSpc>
                <a:spcPct val="145000"/>
              </a:lnSpc>
              <a:spcBef>
                <a:spcPts val="0"/>
              </a:spcBef>
              <a:spcAft>
                <a:spcPts val="0"/>
              </a:spcAft>
            </a:pPr>
            <a:r>
              <a:rPr sz="1533" b="0">
                <a:solidFill>
                  <a:srgbClr val="152840"/>
                </a:solidFill>
                <a:latin typeface="Arial"/>
                <a:ea typeface="Apple SD Gothic Neo"/>
              </a:rPr>
              <a:t>compare_policy_with_findings</a:t>
            </a:r>
          </a:p>
        </p:txBody>
      </p:sp>
      <p:cxnSp>
        <p:nvCxnSpPr>
          <p:cNvPr id="20" name="Connector 19"/>
          <p:cNvCxnSpPr/>
          <p:nvPr/>
        </p:nvCxnSpPr>
        <p:spPr>
          <a:xfrm>
            <a:off x="677333" y="4131733"/>
            <a:ext cx="5875867"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7333" y="4360333"/>
            <a:ext cx="13716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FF6B35"/>
                </a:solidFill>
                <a:latin typeface="Apple SD Gothic Neo"/>
                <a:ea typeface="Apple SD Gothic Neo"/>
              </a:rPr>
              <a:t>통제된 쓰기</a:t>
            </a:r>
          </a:p>
        </p:txBody>
      </p:sp>
      <p:sp>
        <p:nvSpPr>
          <p:cNvPr id="22" name="TextBox 21"/>
          <p:cNvSpPr txBox="1"/>
          <p:nvPr/>
        </p:nvSpPr>
        <p:spPr>
          <a:xfrm>
            <a:off x="2201333" y="4343400"/>
            <a:ext cx="4351866" cy="973666"/>
          </a:xfrm>
          <a:prstGeom prst="rect">
            <a:avLst/>
          </a:prstGeom>
          <a:noFill/>
        </p:spPr>
        <p:txBody>
          <a:bodyPr wrap="square" lIns="0" rIns="0" tIns="0" bIns="0" anchor="t">
            <a:spAutoFit/>
          </a:bodyPr>
          <a:lstStyle/>
          <a:p>
            <a:pPr algn="l">
              <a:lnSpc>
                <a:spcPct val="155000"/>
              </a:lnSpc>
              <a:spcBef>
                <a:spcPts val="0"/>
              </a:spcBef>
              <a:spcAft>
                <a:spcPts val="0"/>
              </a:spcAft>
            </a:pPr>
            <a:r>
              <a:rPr sz="1533" b="0">
                <a:solidFill>
                  <a:srgbClr val="152840"/>
                </a:solidFill>
                <a:latin typeface="Apple SD Gothic Neo"/>
                <a:ea typeface="Apple SD Gothic Neo"/>
              </a:rPr>
              <a:t>request_security_review  → 검토 요청</a:t>
            </a:r>
          </a:p>
          <a:p>
            <a:pPr algn="l">
              <a:lnSpc>
                <a:spcPct val="155000"/>
              </a:lnSpc>
              <a:spcBef>
                <a:spcPts val="0"/>
              </a:spcBef>
              <a:spcAft>
                <a:spcPts val="0"/>
              </a:spcAft>
            </a:pPr>
            <a:r>
              <a:rPr sz="1533" b="0">
                <a:solidFill>
                  <a:srgbClr val="152840"/>
                </a:solidFill>
                <a:latin typeface="Apple SD Gothic Neo"/>
                <a:ea typeface="Apple SD Gothic Neo"/>
              </a:rPr>
              <a:t>create_security_issue  → 승인 후 이슈</a:t>
            </a:r>
          </a:p>
        </p:txBody>
      </p:sp>
      <p:sp>
        <p:nvSpPr>
          <p:cNvPr id="23" name="TextBox 22"/>
          <p:cNvSpPr txBox="1"/>
          <p:nvPr/>
        </p:nvSpPr>
        <p:spPr>
          <a:xfrm>
            <a:off x="7230533" y="1430866"/>
            <a:ext cx="4284133" cy="389466"/>
          </a:xfrm>
          <a:prstGeom prst="rect">
            <a:avLst/>
          </a:prstGeom>
          <a:noFill/>
        </p:spPr>
        <p:txBody>
          <a:bodyPr wrap="square" lIns="0" rIns="0" tIns="0" bIns="0" anchor="t">
            <a:spAutoFit/>
          </a:bodyPr>
          <a:lstStyle/>
          <a:p>
            <a:pPr algn="l">
              <a:lnSpc>
                <a:spcPct val="118000"/>
              </a:lnSpc>
              <a:spcBef>
                <a:spcPts val="0"/>
              </a:spcBef>
              <a:spcAft>
                <a:spcPts val="0"/>
              </a:spcAft>
            </a:pPr>
            <a:r>
              <a:rPr sz="2266" b="1">
                <a:solidFill>
                  <a:srgbClr val="7353A2"/>
                </a:solidFill>
                <a:latin typeface="Arial"/>
                <a:ea typeface="Apple SD Gothic Neo"/>
              </a:rPr>
              <a:t>rag-mcp</a:t>
            </a:r>
          </a:p>
        </p:txBody>
      </p:sp>
      <p:sp>
        <p:nvSpPr>
          <p:cNvPr id="24" name="TextBox 23"/>
          <p:cNvSpPr txBox="1"/>
          <p:nvPr/>
        </p:nvSpPr>
        <p:spPr>
          <a:xfrm>
            <a:off x="7230533" y="1854200"/>
            <a:ext cx="4284133" cy="2540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읽기 3개 + Resource  /  Qdrant</a:t>
            </a:r>
          </a:p>
        </p:txBody>
      </p:sp>
      <p:sp>
        <p:nvSpPr>
          <p:cNvPr id="25" name="TextBox 24"/>
          <p:cNvSpPr txBox="1"/>
          <p:nvPr/>
        </p:nvSpPr>
        <p:spPr>
          <a:xfrm>
            <a:off x="7230533" y="2353733"/>
            <a:ext cx="4284133" cy="1363133"/>
          </a:xfrm>
          <a:prstGeom prst="rect">
            <a:avLst/>
          </a:prstGeom>
          <a:noFill/>
        </p:spPr>
        <p:txBody>
          <a:bodyPr wrap="square" lIns="0" rIns="0" tIns="0" bIns="0" anchor="t">
            <a:spAutoFit/>
          </a:bodyPr>
          <a:lstStyle/>
          <a:p>
            <a:pPr algn="l">
              <a:lnSpc>
                <a:spcPct val="180000"/>
              </a:lnSpc>
              <a:spcBef>
                <a:spcPts val="0"/>
              </a:spcBef>
              <a:spcAft>
                <a:spcPts val="0"/>
              </a:spcAft>
            </a:pPr>
            <a:r>
              <a:rPr sz="1600" b="0">
                <a:solidFill>
                  <a:srgbClr val="152840"/>
                </a:solidFill>
                <a:latin typeface="Arial"/>
                <a:ea typeface="Apple SD Gothic Neo"/>
              </a:rPr>
              <a:t>search_internal_privacy_policy</a:t>
            </a:r>
          </a:p>
          <a:p>
            <a:pPr algn="l">
              <a:lnSpc>
                <a:spcPct val="180000"/>
              </a:lnSpc>
              <a:spcBef>
                <a:spcPts val="0"/>
              </a:spcBef>
              <a:spcAft>
                <a:spcPts val="0"/>
              </a:spcAft>
            </a:pPr>
            <a:r>
              <a:rPr sz="1600" b="0">
                <a:solidFill>
                  <a:srgbClr val="152840"/>
                </a:solidFill>
                <a:latin typeface="Arial"/>
                <a:ea typeface="Apple SD Gothic Neo"/>
              </a:rPr>
              <a:t>search_security_guidelines</a:t>
            </a:r>
          </a:p>
          <a:p>
            <a:pPr algn="l">
              <a:lnSpc>
                <a:spcPct val="180000"/>
              </a:lnSpc>
              <a:spcBef>
                <a:spcPts val="0"/>
              </a:spcBef>
              <a:spcAft>
                <a:spcPts val="0"/>
              </a:spcAft>
            </a:pPr>
            <a:r>
              <a:rPr sz="1600" b="0">
                <a:solidFill>
                  <a:srgbClr val="152840"/>
                </a:solidFill>
                <a:latin typeface="Arial"/>
                <a:ea typeface="Apple SD Gothic Neo"/>
              </a:rPr>
              <a:t>get_guideline_details</a:t>
            </a:r>
          </a:p>
        </p:txBody>
      </p:sp>
      <p:cxnSp>
        <p:nvCxnSpPr>
          <p:cNvPr id="26" name="Connector 25"/>
          <p:cNvCxnSpPr/>
          <p:nvPr/>
        </p:nvCxnSpPr>
        <p:spPr>
          <a:xfrm>
            <a:off x="7230533" y="3835400"/>
            <a:ext cx="42841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230533" y="4089400"/>
            <a:ext cx="4284133" cy="287866"/>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7353A2"/>
                </a:solidFill>
                <a:latin typeface="Arial"/>
                <a:ea typeface="Apple SD Gothic Neo"/>
              </a:rPr>
              <a:t>MCP Resource</a:t>
            </a:r>
          </a:p>
        </p:txBody>
      </p:sp>
      <p:sp>
        <p:nvSpPr>
          <p:cNvPr id="28" name="TextBox 27"/>
          <p:cNvSpPr txBox="1"/>
          <p:nvPr/>
        </p:nvSpPr>
        <p:spPr>
          <a:xfrm>
            <a:off x="7230533" y="4487333"/>
            <a:ext cx="4284133" cy="270933"/>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152840"/>
                </a:solidFill>
                <a:latin typeface="Arial"/>
                <a:ea typeface="Apple SD Gothic Neo"/>
              </a:rPr>
              <a:t>security://guidelines/{rule_id}</a:t>
            </a:r>
          </a:p>
        </p:txBody>
      </p:sp>
      <p:sp>
        <p:nvSpPr>
          <p:cNvPr id="29" name="TextBox 28"/>
          <p:cNvSpPr txBox="1"/>
          <p:nvPr/>
        </p:nvSpPr>
        <p:spPr>
          <a:xfrm>
            <a:off x="7230533" y="4919133"/>
            <a:ext cx="4284133" cy="355600"/>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규칙별 실제 조항 · 원문 위치 반환</a:t>
            </a:r>
          </a:p>
        </p:txBody>
      </p:sp>
      <p:sp>
        <p:nvSpPr>
          <p:cNvPr id="30" name="Rectangle 29"/>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모델의 선택 목록 = 읽기 도구 6개 + 로컬 finish_analysis. 쓰기 도구는 고정된 승인 워크플로가 통제합니다.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CONTRACT · ROUTING · ERROR HANDLING</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MCP 호출은 인자·권한·예산 검증을 통과해야 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MCP 설계·구현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20점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planner.py validate_action · graph.py tool/execute · mcp_servers/common.py · tests/test_agent_loop.py</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08</a:t>
            </a:r>
          </a:p>
        </p:txBody>
      </p:sp>
      <p:sp>
        <p:nvSpPr>
          <p:cNvPr id="11" name="TextBox 10"/>
          <p:cNvSpPr txBox="1"/>
          <p:nvPr/>
        </p:nvSpPr>
        <p:spPr>
          <a:xfrm>
            <a:off x="474133" y="1193800"/>
            <a:ext cx="11243733" cy="3302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152840"/>
                </a:solidFill>
                <a:latin typeface="Apple SD Gothic Neo"/>
                <a:ea typeface="Apple SD Gothic Neo"/>
              </a:rPr>
              <a:t>모델은 도구를 제안하고, Harness와 Backend가 실행 범위를 제한합니다.</a:t>
            </a:r>
          </a:p>
        </p:txBody>
      </p:sp>
      <p:sp>
        <p:nvSpPr>
          <p:cNvPr id="12" name="Rectangle 11"/>
          <p:cNvSpPr/>
          <p:nvPr/>
        </p:nvSpPr>
        <p:spPr>
          <a:xfrm>
            <a:off x="474133" y="2023533"/>
            <a:ext cx="2658533" cy="12022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4133" y="2023533"/>
            <a:ext cx="42333" cy="12022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066" y="2142066"/>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LLM 함수 선택</a:t>
            </a:r>
          </a:p>
        </p:txBody>
      </p:sp>
      <p:sp>
        <p:nvSpPr>
          <p:cNvPr id="15" name="TextBox 14"/>
          <p:cNvSpPr txBox="1"/>
          <p:nvPr/>
        </p:nvSpPr>
        <p:spPr>
          <a:xfrm>
            <a:off x="618066" y="2531533"/>
            <a:ext cx="2370666" cy="6434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허용된 읽기 함수</a:t>
            </a:r>
          </a:p>
          <a:p>
            <a:pPr algn="l">
              <a:lnSpc>
                <a:spcPct val="118000"/>
              </a:lnSpc>
              <a:spcBef>
                <a:spcPts val="0"/>
              </a:spcBef>
              <a:spcAft>
                <a:spcPts val="0"/>
              </a:spcAft>
            </a:pPr>
            <a:r>
              <a:rPr sz="1600" b="0">
                <a:solidFill>
                  <a:srgbClr val="64748B"/>
                </a:solidFill>
                <a:latin typeface="Apple SD Gothic Neo"/>
                <a:ea typeface="Apple SD Gothic Neo"/>
              </a:rPr>
              <a:t>도구명 + 인자</a:t>
            </a:r>
          </a:p>
        </p:txBody>
      </p:sp>
      <p:cxnSp>
        <p:nvCxnSpPr>
          <p:cNvPr id="16" name="Connector 15"/>
          <p:cNvCxnSpPr/>
          <p:nvPr/>
        </p:nvCxnSpPr>
        <p:spPr>
          <a:xfrm>
            <a:off x="3132666" y="2624666"/>
            <a:ext cx="203200" cy="0"/>
          </a:xfrm>
          <a:prstGeom prst="line">
            <a:avLst/>
          </a:prstGeom>
          <a:ln w="16933">
            <a:solidFill>
              <a:srgbClr val="365DA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335866" y="2023533"/>
            <a:ext cx="2658533" cy="12022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5866" y="2023533"/>
            <a:ext cx="42333" cy="12022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9800" y="2142066"/>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Harness 검증</a:t>
            </a:r>
          </a:p>
        </p:txBody>
      </p:sp>
      <p:sp>
        <p:nvSpPr>
          <p:cNvPr id="20" name="TextBox 19"/>
          <p:cNvSpPr txBox="1"/>
          <p:nvPr/>
        </p:nvSpPr>
        <p:spPr>
          <a:xfrm>
            <a:off x="3479800" y="2531533"/>
            <a:ext cx="2370666" cy="6434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allowlist · 인자 schema</a:t>
            </a:r>
          </a:p>
          <a:p>
            <a:pPr algn="l">
              <a:lnSpc>
                <a:spcPct val="118000"/>
              </a:lnSpc>
              <a:spcBef>
                <a:spcPts val="0"/>
              </a:spcBef>
              <a:spcAft>
                <a:spcPts val="0"/>
              </a:spcAft>
            </a:pPr>
            <a:r>
              <a:rPr sz="1600" b="0">
                <a:solidFill>
                  <a:srgbClr val="64748B"/>
                </a:solidFill>
                <a:latin typeface="Apple SD Gothic Neo"/>
                <a:ea typeface="Apple SD Gothic Neo"/>
              </a:rPr>
              <a:t>scanId 주입 · 호출 예산</a:t>
            </a:r>
          </a:p>
        </p:txBody>
      </p:sp>
      <p:cxnSp>
        <p:nvCxnSpPr>
          <p:cNvPr id="21" name="Connector 20"/>
          <p:cNvCxnSpPr/>
          <p:nvPr/>
        </p:nvCxnSpPr>
        <p:spPr>
          <a:xfrm>
            <a:off x="5994400" y="2624666"/>
            <a:ext cx="203200" cy="0"/>
          </a:xfrm>
          <a:prstGeom prst="line">
            <a:avLst/>
          </a:prstGeom>
          <a:ln w="16933">
            <a:solidFill>
              <a:srgbClr val="365DA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97600" y="2023533"/>
            <a:ext cx="2658533" cy="12022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7600" y="2023533"/>
            <a:ext cx="42333" cy="12022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1533" y="2142066"/>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FastMCP 호출</a:t>
            </a:r>
          </a:p>
        </p:txBody>
      </p:sp>
      <p:sp>
        <p:nvSpPr>
          <p:cNvPr id="25" name="TextBox 24"/>
          <p:cNvSpPr txBox="1"/>
          <p:nvPr/>
        </p:nvSpPr>
        <p:spPr>
          <a:xfrm>
            <a:off x="6341533" y="2531533"/>
            <a:ext cx="2370666" cy="6434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Streamable HTTP</a:t>
            </a:r>
          </a:p>
          <a:p>
            <a:pPr algn="l">
              <a:lnSpc>
                <a:spcPct val="118000"/>
              </a:lnSpc>
              <a:spcBef>
                <a:spcPts val="0"/>
              </a:spcBef>
              <a:spcAft>
                <a:spcPts val="0"/>
              </a:spcAft>
            </a:pPr>
            <a:r>
              <a:rPr sz="1600" b="0">
                <a:solidFill>
                  <a:srgbClr val="64748B"/>
                </a:solidFill>
                <a:latin typeface="Apple SD Gothic Neo"/>
                <a:ea typeface="Apple SD Gothic Neo"/>
              </a:rPr>
              <a:t>Bearer 인증</a:t>
            </a:r>
          </a:p>
        </p:txBody>
      </p:sp>
      <p:cxnSp>
        <p:nvCxnSpPr>
          <p:cNvPr id="26" name="Connector 25"/>
          <p:cNvCxnSpPr/>
          <p:nvPr/>
        </p:nvCxnSpPr>
        <p:spPr>
          <a:xfrm>
            <a:off x="8856133" y="2624666"/>
            <a:ext cx="203200" cy="0"/>
          </a:xfrm>
          <a:prstGeom prst="line">
            <a:avLst/>
          </a:prstGeom>
          <a:ln w="16933">
            <a:solidFill>
              <a:srgbClr val="365DA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59333" y="2023533"/>
            <a:ext cx="2658533" cy="12022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9333" y="2023533"/>
            <a:ext cx="42333" cy="12022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03266" y="2142066"/>
            <a:ext cx="2370666"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서비스 경계</a:t>
            </a:r>
          </a:p>
        </p:txBody>
      </p:sp>
      <p:sp>
        <p:nvSpPr>
          <p:cNvPr id="30" name="TextBox 29"/>
          <p:cNvSpPr txBox="1"/>
          <p:nvPr/>
        </p:nvSpPr>
        <p:spPr>
          <a:xfrm>
            <a:off x="9203266" y="2531533"/>
            <a:ext cx="2370666" cy="6434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business → 내부 API</a:t>
            </a:r>
          </a:p>
          <a:p>
            <a:pPr algn="l">
              <a:lnSpc>
                <a:spcPct val="118000"/>
              </a:lnSpc>
              <a:spcBef>
                <a:spcPts val="0"/>
              </a:spcBef>
              <a:spcAft>
                <a:spcPts val="0"/>
              </a:spcAft>
            </a:pPr>
            <a:r>
              <a:rPr sz="1600" b="0">
                <a:solidFill>
                  <a:srgbClr val="64748B"/>
                </a:solidFill>
                <a:latin typeface="Apple SD Gothic Neo"/>
                <a:ea typeface="Apple SD Gothic Neo"/>
              </a:rPr>
              <a:t>rag → Qdrant</a:t>
            </a:r>
          </a:p>
        </p:txBody>
      </p:sp>
      <p:sp>
        <p:nvSpPr>
          <p:cNvPr id="31" name="TextBox 30"/>
          <p:cNvSpPr txBox="1"/>
          <p:nvPr/>
        </p:nvSpPr>
        <p:spPr>
          <a:xfrm>
            <a:off x="474133" y="3479800"/>
            <a:ext cx="11243733" cy="321733"/>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오류를 다음 관측으로 전달하되, 조사와 변경을 무제한 허용하지 않습니다.</a:t>
            </a:r>
          </a:p>
        </p:txBody>
      </p:sp>
      <p:sp>
        <p:nvSpPr>
          <p:cNvPr id="32" name="Rectangle 31"/>
          <p:cNvSpPr/>
          <p:nvPr/>
        </p:nvSpPr>
        <p:spPr>
          <a:xfrm>
            <a:off x="474133" y="4021666"/>
            <a:ext cx="3606800" cy="1253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4133" y="4021666"/>
            <a:ext cx="42333" cy="12530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8066" y="4140200"/>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허용되지 않은 인자</a:t>
            </a:r>
          </a:p>
        </p:txBody>
      </p:sp>
      <p:sp>
        <p:nvSpPr>
          <p:cNvPr id="35" name="TextBox 34"/>
          <p:cNvSpPr txBox="1"/>
          <p:nvPr/>
        </p:nvSpPr>
        <p:spPr>
          <a:xfrm>
            <a:off x="618066" y="4529666"/>
            <a:ext cx="3318933" cy="694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쓰기 함수·다른 scanId·잘못된 규칙</a:t>
            </a:r>
          </a:p>
          <a:p>
            <a:pPr algn="l">
              <a:lnSpc>
                <a:spcPct val="118000"/>
              </a:lnSpc>
              <a:spcBef>
                <a:spcPts val="0"/>
              </a:spcBef>
              <a:spcAft>
                <a:spcPts val="0"/>
              </a:spcAft>
            </a:pPr>
            <a:r>
              <a:rPr sz="1533" b="0">
                <a:solidFill>
                  <a:srgbClr val="64748B"/>
                </a:solidFill>
                <a:latin typeface="Apple SD Gothic Neo"/>
                <a:ea typeface="Apple SD Gothic Neo"/>
              </a:rPr>
              <a:t>→ 호출 제안 거부 / fallback</a:t>
            </a:r>
          </a:p>
        </p:txBody>
      </p:sp>
      <p:sp>
        <p:nvSpPr>
          <p:cNvPr id="36" name="Rectangle 35"/>
          <p:cNvSpPr/>
          <p:nvPr/>
        </p:nvSpPr>
        <p:spPr>
          <a:xfrm>
            <a:off x="4292600" y="4021666"/>
            <a:ext cx="3606800" cy="1253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2600" y="4021666"/>
            <a:ext cx="42333" cy="12530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36533" y="4140200"/>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MCP 오류 · 시간 초과</a:t>
            </a:r>
          </a:p>
        </p:txBody>
      </p:sp>
      <p:sp>
        <p:nvSpPr>
          <p:cNvPr id="39" name="TextBox 38"/>
          <p:cNvSpPr txBox="1"/>
          <p:nvPr/>
        </p:nvSpPr>
        <p:spPr>
          <a:xfrm>
            <a:off x="4436533" y="4529666"/>
            <a:ext cx="3318933" cy="694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TOOL_ERROR를 다음 선택에 전달</a:t>
            </a:r>
          </a:p>
          <a:p>
            <a:pPr algn="l">
              <a:lnSpc>
                <a:spcPct val="118000"/>
              </a:lnSpc>
              <a:spcBef>
                <a:spcPts val="0"/>
              </a:spcBef>
              <a:spcAft>
                <a:spcPts val="0"/>
              </a:spcAft>
            </a:pPr>
            <a:r>
              <a:rPr sz="1533" b="0">
                <a:solidFill>
                  <a:srgbClr val="64748B"/>
                </a:solidFill>
                <a:latin typeface="Apple SD Gothic Neo"/>
                <a:ea typeface="Apple SD Gothic Neo"/>
              </a:rPr>
              <a:t>→ 대안 조사 또는 유한 실패</a:t>
            </a:r>
          </a:p>
        </p:txBody>
      </p:sp>
      <p:sp>
        <p:nvSpPr>
          <p:cNvPr id="40" name="Rectangle 39"/>
          <p:cNvSpPr/>
          <p:nvPr/>
        </p:nvSpPr>
        <p:spPr>
          <a:xfrm>
            <a:off x="8111066" y="4021666"/>
            <a:ext cx="3606800" cy="1253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11066" y="4021666"/>
            <a:ext cx="42333" cy="12530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5000" y="4140200"/>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반복 · 모델 장애</a:t>
            </a:r>
          </a:p>
        </p:txBody>
      </p:sp>
      <p:sp>
        <p:nvSpPr>
          <p:cNvPr id="43" name="TextBox 42"/>
          <p:cNvSpPr txBox="1"/>
          <p:nvPr/>
        </p:nvSpPr>
        <p:spPr>
          <a:xfrm>
            <a:off x="8255000" y="4529666"/>
            <a:ext cx="3318933" cy="694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도구별 3회 / 선택 최대 12턴</a:t>
            </a:r>
          </a:p>
          <a:p>
            <a:pPr algn="l">
              <a:lnSpc>
                <a:spcPct val="118000"/>
              </a:lnSpc>
              <a:spcBef>
                <a:spcPts val="0"/>
              </a:spcBef>
              <a:spcAft>
                <a:spcPts val="0"/>
              </a:spcAft>
            </a:pPr>
            <a:r>
              <a:rPr sz="1533" b="0">
                <a:solidFill>
                  <a:srgbClr val="64748B"/>
                </a:solidFill>
                <a:latin typeface="Apple SD Gothic Neo"/>
                <a:ea typeface="Apple SD Gothic Neo"/>
              </a:rPr>
              <a:t>→ 소진 도구 제외 · 모드 표시</a:t>
            </a:r>
          </a:p>
        </p:txBody>
      </p:sp>
      <p:sp>
        <p:nvSpPr>
          <p:cNvPr id="44" name="Rectangle 43"/>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annotation은 권한 검사가 아닙니다. readOnlyHint / destructiveHint + 실제 인증·인자·승인 검증을 함께 적용합니다.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03. AGENT &amp; MCP  /  POLICY CONTEXT · RAG PROVENANCE</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업무 맥락은 확인 가능한 정책·코드 사실까지 반영합니다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MCP 설계·구현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20점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rag/catalog.json · mcp_servers/index.py / vector.py / policy_review.py · scripts/evidence_context.py</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09</a:t>
            </a:r>
          </a:p>
        </p:txBody>
      </p:sp>
      <p:sp>
        <p:nvSpPr>
          <p:cNvPr id="11" name="Rectangle 10"/>
          <p:cNvSpPr/>
          <p:nvPr/>
        </p:nvSpPr>
        <p:spPr>
          <a:xfrm>
            <a:off x="474133" y="1659466"/>
            <a:ext cx="2099733" cy="1041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4133" y="1659466"/>
            <a:ext cx="42333" cy="1041400"/>
          </a:xfrm>
          <a:prstGeom prst="rect">
            <a:avLst/>
          </a:prstGeom>
          <a:solidFill>
            <a:srgbClr val="7353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066" y="1778000"/>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정책 PDF 2종</a:t>
            </a:r>
          </a:p>
        </p:txBody>
      </p:sp>
      <p:sp>
        <p:nvSpPr>
          <p:cNvPr id="14" name="TextBox 13"/>
          <p:cNvSpPr txBox="1"/>
          <p:nvPr/>
        </p:nvSpPr>
        <p:spPr>
          <a:xfrm>
            <a:off x="618066" y="2167466"/>
            <a:ext cx="1811866" cy="482600"/>
          </a:xfrm>
          <a:prstGeom prst="rect">
            <a:avLst/>
          </a:prstGeom>
          <a:noFill/>
        </p:spPr>
        <p:txBody>
          <a:bodyPr wrap="square" lIns="0" rIns="0" tIns="0" bIns="0" anchor="t">
            <a:spAutoFit/>
          </a:bodyPr>
          <a:lstStyle/>
          <a:p>
            <a:pPr algn="l">
              <a:lnSpc>
                <a:spcPct val="118000"/>
              </a:lnSpc>
              <a:spcBef>
                <a:spcPts val="0"/>
              </a:spcBef>
              <a:spcAft>
                <a:spcPts val="0"/>
              </a:spcAft>
            </a:pPr>
            <a:r>
              <a:rPr sz="1400" b="0">
                <a:solidFill>
                  <a:srgbClr val="64748B"/>
                </a:solidFill>
                <a:latin typeface="Apple SD Gothic Neo"/>
                <a:ea typeface="Apple SD Gothic Neo"/>
              </a:rPr>
              <a:t>사내 정책 / 외부 참조집</a:t>
            </a:r>
          </a:p>
        </p:txBody>
      </p:sp>
      <p:cxnSp>
        <p:nvCxnSpPr>
          <p:cNvPr id="15" name="Connector 14"/>
          <p:cNvCxnSpPr/>
          <p:nvPr/>
        </p:nvCxnSpPr>
        <p:spPr>
          <a:xfrm>
            <a:off x="2573866" y="2175933"/>
            <a:ext cx="186267" cy="0"/>
          </a:xfrm>
          <a:prstGeom prst="line">
            <a:avLst/>
          </a:prstGeom>
          <a:ln w="16933">
            <a:solidFill>
              <a:srgbClr val="7353A2"/>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760133" y="1659466"/>
            <a:ext cx="2099733" cy="1041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60133" y="1659466"/>
            <a:ext cx="42333" cy="1041400"/>
          </a:xfrm>
          <a:prstGeom prst="rect">
            <a:avLst/>
          </a:prstGeom>
          <a:solidFill>
            <a:srgbClr val="7353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4066" y="1778000"/>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조항 · 페이지 추출</a:t>
            </a:r>
          </a:p>
        </p:txBody>
      </p:sp>
      <p:sp>
        <p:nvSpPr>
          <p:cNvPr id="19" name="TextBox 18"/>
          <p:cNvSpPr txBox="1"/>
          <p:nvPr/>
        </p:nvSpPr>
        <p:spPr>
          <a:xfrm>
            <a:off x="2904066" y="2167466"/>
            <a:ext cx="1811866" cy="482600"/>
          </a:xfrm>
          <a:prstGeom prst="rect">
            <a:avLst/>
          </a:prstGeom>
          <a:noFill/>
        </p:spPr>
        <p:txBody>
          <a:bodyPr wrap="square" lIns="0" rIns="0" tIns="0" bIns="0" anchor="t">
            <a:spAutoFit/>
          </a:bodyPr>
          <a:lstStyle/>
          <a:p>
            <a:pPr algn="l">
              <a:lnSpc>
                <a:spcPct val="118000"/>
              </a:lnSpc>
              <a:spcBef>
                <a:spcPts val="0"/>
              </a:spcBef>
              <a:spcAft>
                <a:spcPts val="0"/>
              </a:spcAft>
            </a:pPr>
            <a:r>
              <a:rPr sz="1400" b="0">
                <a:solidFill>
                  <a:srgbClr val="64748B"/>
                </a:solidFill>
                <a:latin typeface="Apple SD Gothic Neo"/>
                <a:ea typeface="Apple SD Gothic Neo"/>
              </a:rPr>
              <a:t>catalog.json · 47청크</a:t>
            </a:r>
          </a:p>
        </p:txBody>
      </p:sp>
      <p:cxnSp>
        <p:nvCxnSpPr>
          <p:cNvPr id="20" name="Connector 19"/>
          <p:cNvCxnSpPr/>
          <p:nvPr/>
        </p:nvCxnSpPr>
        <p:spPr>
          <a:xfrm>
            <a:off x="4859866" y="2175933"/>
            <a:ext cx="186267" cy="0"/>
          </a:xfrm>
          <a:prstGeom prst="line">
            <a:avLst/>
          </a:prstGeom>
          <a:ln w="16933">
            <a:solidFill>
              <a:srgbClr val="7353A2"/>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46133" y="1659466"/>
            <a:ext cx="2099733" cy="1041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46133" y="1659466"/>
            <a:ext cx="42333" cy="1041400"/>
          </a:xfrm>
          <a:prstGeom prst="rect">
            <a:avLst/>
          </a:prstGeom>
          <a:solidFill>
            <a:srgbClr val="7353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90066" y="1778000"/>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로컬 벡터화</a:t>
            </a:r>
          </a:p>
        </p:txBody>
      </p:sp>
      <p:sp>
        <p:nvSpPr>
          <p:cNvPr id="24" name="TextBox 23"/>
          <p:cNvSpPr txBox="1"/>
          <p:nvPr/>
        </p:nvSpPr>
        <p:spPr>
          <a:xfrm>
            <a:off x="5190066" y="2167466"/>
            <a:ext cx="1811866" cy="482600"/>
          </a:xfrm>
          <a:prstGeom prst="rect">
            <a:avLst/>
          </a:prstGeom>
          <a:noFill/>
        </p:spPr>
        <p:txBody>
          <a:bodyPr wrap="square" lIns="0" rIns="0" tIns="0" bIns="0" anchor="t">
            <a:spAutoFit/>
          </a:bodyPr>
          <a:lstStyle/>
          <a:p>
            <a:pPr algn="l">
              <a:lnSpc>
                <a:spcPct val="118000"/>
              </a:lnSpc>
              <a:spcBef>
                <a:spcPts val="0"/>
              </a:spcBef>
              <a:spcAft>
                <a:spcPts val="0"/>
              </a:spcAft>
            </a:pPr>
            <a:r>
              <a:rPr sz="1400" b="0">
                <a:solidFill>
                  <a:srgbClr val="64748B"/>
                </a:solidFill>
                <a:latin typeface="Apple SD Gothic Neo"/>
                <a:ea typeface="Apple SD Gothic Neo"/>
              </a:rPr>
              <a:t>1024차원 · 문자 n-gram</a:t>
            </a:r>
          </a:p>
        </p:txBody>
      </p:sp>
      <p:cxnSp>
        <p:nvCxnSpPr>
          <p:cNvPr id="25" name="Connector 24"/>
          <p:cNvCxnSpPr/>
          <p:nvPr/>
        </p:nvCxnSpPr>
        <p:spPr>
          <a:xfrm>
            <a:off x="7145866" y="2175933"/>
            <a:ext cx="186267" cy="0"/>
          </a:xfrm>
          <a:prstGeom prst="line">
            <a:avLst/>
          </a:prstGeom>
          <a:ln w="16933">
            <a:solidFill>
              <a:srgbClr val="7353A2"/>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32133" y="1659466"/>
            <a:ext cx="2099733" cy="1041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32133" y="1659466"/>
            <a:ext cx="42333" cy="1041400"/>
          </a:xfrm>
          <a:prstGeom prst="rect">
            <a:avLst/>
          </a:prstGeom>
          <a:solidFill>
            <a:srgbClr val="7353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6066" y="1778000"/>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Qdrant 검색</a:t>
            </a:r>
          </a:p>
        </p:txBody>
      </p:sp>
      <p:sp>
        <p:nvSpPr>
          <p:cNvPr id="29" name="TextBox 28"/>
          <p:cNvSpPr txBox="1"/>
          <p:nvPr/>
        </p:nvSpPr>
        <p:spPr>
          <a:xfrm>
            <a:off x="7476066" y="2167466"/>
            <a:ext cx="1811866" cy="482600"/>
          </a:xfrm>
          <a:prstGeom prst="rect">
            <a:avLst/>
          </a:prstGeom>
          <a:noFill/>
        </p:spPr>
        <p:txBody>
          <a:bodyPr wrap="square" lIns="0" rIns="0" tIns="0" bIns="0" anchor="t">
            <a:spAutoFit/>
          </a:bodyPr>
          <a:lstStyle/>
          <a:p>
            <a:pPr algn="l">
              <a:lnSpc>
                <a:spcPct val="118000"/>
              </a:lnSpc>
              <a:spcBef>
                <a:spcPts val="0"/>
              </a:spcBef>
              <a:spcAft>
                <a:spcPts val="0"/>
              </a:spcAft>
            </a:pPr>
            <a:r>
              <a:rPr sz="1400" b="0">
                <a:solidFill>
                  <a:srgbClr val="64748B"/>
                </a:solidFill>
                <a:latin typeface="Apple SD Gothic Neo"/>
                <a:ea typeface="Apple SD Gothic Neo"/>
              </a:rPr>
              <a:t>유형·규칙 필터 / cosine</a:t>
            </a:r>
          </a:p>
        </p:txBody>
      </p:sp>
      <p:cxnSp>
        <p:nvCxnSpPr>
          <p:cNvPr id="30" name="Connector 29"/>
          <p:cNvCxnSpPr/>
          <p:nvPr/>
        </p:nvCxnSpPr>
        <p:spPr>
          <a:xfrm>
            <a:off x="9431866" y="2175933"/>
            <a:ext cx="186267" cy="0"/>
          </a:xfrm>
          <a:prstGeom prst="line">
            <a:avLst/>
          </a:prstGeom>
          <a:ln w="16933">
            <a:solidFill>
              <a:srgbClr val="7353A2"/>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618133" y="1659466"/>
            <a:ext cx="2099733" cy="10414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8133" y="1659466"/>
            <a:ext cx="42333" cy="1041400"/>
          </a:xfrm>
          <a:prstGeom prst="rect">
            <a:avLst/>
          </a:prstGeom>
          <a:solidFill>
            <a:srgbClr val="7353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2066" y="1778000"/>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출처 반환</a:t>
            </a:r>
          </a:p>
        </p:txBody>
      </p:sp>
      <p:sp>
        <p:nvSpPr>
          <p:cNvPr id="34" name="TextBox 33"/>
          <p:cNvSpPr txBox="1"/>
          <p:nvPr/>
        </p:nvSpPr>
        <p:spPr>
          <a:xfrm>
            <a:off x="9762066" y="2167466"/>
            <a:ext cx="1811866" cy="482600"/>
          </a:xfrm>
          <a:prstGeom prst="rect">
            <a:avLst/>
          </a:prstGeom>
          <a:noFill/>
        </p:spPr>
        <p:txBody>
          <a:bodyPr wrap="square" lIns="0" rIns="0" tIns="0" bIns="0" anchor="t">
            <a:spAutoFit/>
          </a:bodyPr>
          <a:lstStyle/>
          <a:p>
            <a:pPr algn="l">
              <a:lnSpc>
                <a:spcPct val="118000"/>
              </a:lnSpc>
              <a:spcBef>
                <a:spcPts val="0"/>
              </a:spcBef>
              <a:spcAft>
                <a:spcPts val="0"/>
              </a:spcAft>
            </a:pPr>
            <a:r>
              <a:rPr sz="1400" b="0">
                <a:solidFill>
                  <a:srgbClr val="64748B"/>
                </a:solidFill>
                <a:latin typeface="Apple SD Gothic Neo"/>
                <a:ea typeface="Apple SD Gothic Neo"/>
              </a:rPr>
              <a:t>문서 ID · 조항 · 페이지</a:t>
            </a:r>
          </a:p>
        </p:txBody>
      </p:sp>
      <p:sp>
        <p:nvSpPr>
          <p:cNvPr id="35" name="TextBox 34"/>
          <p:cNvSpPr txBox="1"/>
          <p:nvPr/>
        </p:nvSpPr>
        <p:spPr>
          <a:xfrm>
            <a:off x="474133" y="2954866"/>
            <a:ext cx="11243733" cy="296333"/>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152840"/>
                </a:solidFill>
                <a:latin typeface="Apple SD Gothic Neo"/>
                <a:ea typeface="Apple SD Gothic Neo"/>
              </a:rPr>
              <a:t>필드가 존재한다는 사실과, 업무상 수집이 승인됐다는 판단을 구분합니다.</a:t>
            </a:r>
          </a:p>
        </p:txBody>
      </p:sp>
      <p:sp>
        <p:nvSpPr>
          <p:cNvPr id="36" name="Rectangle 35"/>
          <p:cNvSpPr/>
          <p:nvPr/>
        </p:nvSpPr>
        <p:spPr>
          <a:xfrm>
            <a:off x="474133" y="3547533"/>
            <a:ext cx="3606800" cy="1862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4133" y="3547533"/>
            <a:ext cx="42333" cy="1862666"/>
          </a:xfrm>
          <a:prstGeom prst="rect">
            <a:avLst/>
          </a:prstGeom>
          <a:solidFill>
            <a:srgbClr val="2472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8066" y="3666066"/>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반영된 업무 근거</a:t>
            </a:r>
          </a:p>
        </p:txBody>
      </p:sp>
      <p:sp>
        <p:nvSpPr>
          <p:cNvPr id="39" name="TextBox 38"/>
          <p:cNvSpPr txBox="1"/>
          <p:nvPr/>
        </p:nvSpPr>
        <p:spPr>
          <a:xfrm>
            <a:off x="618066" y="4055533"/>
            <a:ext cx="3318933" cy="1303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정책의 승인·제한 목록</a:t>
            </a:r>
          </a:p>
          <a:p>
            <a:pPr algn="l">
              <a:lnSpc>
                <a:spcPct val="118000"/>
              </a:lnSpc>
              <a:spcBef>
                <a:spcPts val="0"/>
              </a:spcBef>
              <a:spcAft>
                <a:spcPts val="0"/>
              </a:spcAft>
            </a:pPr>
            <a:r>
              <a:rPr sz="1600" b="0">
                <a:solidFill>
                  <a:srgbClr val="64748B"/>
                </a:solidFill>
                <a:latin typeface="Apple SD Gothic Neo"/>
                <a:ea typeface="Apple SD Gothic Neo"/>
              </a:rPr>
              <a:t>필드 역할 · 정적 저장 호출</a:t>
            </a:r>
          </a:p>
          <a:p>
            <a:pPr algn="l">
              <a:lnSpc>
                <a:spcPct val="118000"/>
              </a:lnSpc>
              <a:spcBef>
                <a:spcPts val="0"/>
              </a:spcBef>
              <a:spcAft>
                <a:spcPts val="0"/>
              </a:spcAft>
            </a:pPr>
            <a:r>
              <a:rPr sz="1600" b="0">
                <a:solidFill>
                  <a:srgbClr val="64748B"/>
                </a:solidFill>
                <a:latin typeface="Apple SD Gothic Neo"/>
                <a:ea typeface="Apple SD Gothic Neo"/>
              </a:rPr>
              <a:t>실습 모드 조건 · 코드 변경 사실</a:t>
            </a:r>
          </a:p>
        </p:txBody>
      </p:sp>
      <p:sp>
        <p:nvSpPr>
          <p:cNvPr id="40" name="Rectangle 39"/>
          <p:cNvSpPr/>
          <p:nvPr/>
        </p:nvSpPr>
        <p:spPr>
          <a:xfrm>
            <a:off x="4292600" y="3547533"/>
            <a:ext cx="3606800" cy="1862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92600" y="3547533"/>
            <a:ext cx="42333" cy="1862666"/>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6533" y="3666066"/>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아직 연결되지 않은 맥락</a:t>
            </a:r>
          </a:p>
        </p:txBody>
      </p:sp>
      <p:sp>
        <p:nvSpPr>
          <p:cNvPr id="43" name="TextBox 42"/>
          <p:cNvSpPr txBox="1"/>
          <p:nvPr/>
        </p:nvSpPr>
        <p:spPr>
          <a:xfrm>
            <a:off x="4436533" y="4055533"/>
            <a:ext cx="3318933" cy="1303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실제 수집 목적 · 보유 기간</a:t>
            </a:r>
          </a:p>
          <a:p>
            <a:pPr algn="l">
              <a:lnSpc>
                <a:spcPct val="118000"/>
              </a:lnSpc>
              <a:spcBef>
                <a:spcPts val="0"/>
              </a:spcBef>
              <a:spcAft>
                <a:spcPts val="0"/>
              </a:spcAft>
            </a:pPr>
            <a:r>
              <a:rPr sz="1600" b="0">
                <a:solidFill>
                  <a:srgbClr val="64748B"/>
                </a:solidFill>
                <a:latin typeface="Apple SD Gothic Neo"/>
                <a:ea typeface="Apple SD Gothic Neo"/>
              </a:rPr>
              <a:t>별도 승인 기록 · 운영 설정</a:t>
            </a:r>
          </a:p>
          <a:p>
            <a:pPr algn="l">
              <a:lnSpc>
                <a:spcPct val="118000"/>
              </a:lnSpc>
              <a:spcBef>
                <a:spcPts val="0"/>
              </a:spcBef>
              <a:spcAft>
                <a:spcPts val="0"/>
              </a:spcAft>
            </a:pPr>
            <a:r>
              <a:rPr sz="1600" b="0">
                <a:solidFill>
                  <a:srgbClr val="64748B"/>
                </a:solidFill>
                <a:latin typeface="Apple SD Gothic Neo"/>
                <a:ea typeface="Apple SD Gothic Neo"/>
              </a:rPr>
              <a:t>런타임 업무 로그</a:t>
            </a:r>
          </a:p>
        </p:txBody>
      </p:sp>
      <p:sp>
        <p:nvSpPr>
          <p:cNvPr id="44" name="Rectangle 43"/>
          <p:cNvSpPr/>
          <p:nvPr/>
        </p:nvSpPr>
        <p:spPr>
          <a:xfrm>
            <a:off x="8111066" y="3547533"/>
            <a:ext cx="3606800" cy="18626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11066" y="3547533"/>
            <a:ext cx="42333" cy="18626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55000" y="3666066"/>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결과에 드러내는 한계</a:t>
            </a:r>
          </a:p>
        </p:txBody>
      </p:sp>
      <p:sp>
        <p:nvSpPr>
          <p:cNvPr id="47" name="TextBox 46"/>
          <p:cNvSpPr txBox="1"/>
          <p:nvPr/>
        </p:nvSpPr>
        <p:spPr>
          <a:xfrm>
            <a:off x="8255000" y="4055533"/>
            <a:ext cx="3318933" cy="1303866"/>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INSUFFICIENT_EVIDENCE</a:t>
            </a:r>
          </a:p>
          <a:p>
            <a:pPr algn="l">
              <a:lnSpc>
                <a:spcPct val="118000"/>
              </a:lnSpc>
              <a:spcBef>
                <a:spcPts val="0"/>
              </a:spcBef>
              <a:spcAft>
                <a:spcPts val="0"/>
              </a:spcAft>
            </a:pPr>
            <a:r>
              <a:rPr sz="1600" b="0">
                <a:solidFill>
                  <a:srgbClr val="64748B"/>
                </a:solidFill>
                <a:latin typeface="Apple SD Gothic Neo"/>
                <a:ea typeface="Apple SD Gothic Neo"/>
              </a:rPr>
              <a:t>별도 승인 기록 미확인</a:t>
            </a:r>
          </a:p>
          <a:p>
            <a:pPr algn="l">
              <a:lnSpc>
                <a:spcPct val="118000"/>
              </a:lnSpc>
              <a:spcBef>
                <a:spcPts val="0"/>
              </a:spcBef>
              <a:spcAft>
                <a:spcPts val="0"/>
              </a:spcAft>
            </a:pPr>
            <a:r>
              <a:rPr sz="1600" b="0">
                <a:solidFill>
                  <a:srgbClr val="64748B"/>
                </a:solidFill>
                <a:latin typeface="Apple SD Gothic Neo"/>
                <a:ea typeface="Apple SD Gothic Neo"/>
              </a:rPr>
              <a:t>런타임 검증 미수행</a:t>
            </a:r>
          </a:p>
        </p:txBody>
      </p:sp>
      <p:sp>
        <p:nvSpPr>
          <p:cNvPr id="48" name="Rectangle 47"/>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RAG 출처는 제공된 사내 정책·외부 참조집입니다. OWASP 공식 원문 전체나 실제 업무 승인 시스템과 구분합니다.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04. EVIDENCE  /  무엇을 어디까지 확인했는가</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설계 문서·코드·실행 결과를 함께 제시합니다</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담당 영역 종합</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60점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근거: ARCHITECTURE.md V1–V4 · AGENT_HARNESS.md · CHANGE_REVIEWS.md · verification.json</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10</a:t>
            </a:r>
          </a:p>
        </p:txBody>
      </p:sp>
      <p:sp>
        <p:nvSpPr>
          <p:cNvPr id="11" name="TextBox 10"/>
          <p:cNvSpPr txBox="1"/>
          <p:nvPr/>
        </p:nvSpPr>
        <p:spPr>
          <a:xfrm>
            <a:off x="474133" y="1219200"/>
            <a:ext cx="1100666" cy="643466"/>
          </a:xfrm>
          <a:prstGeom prst="rect">
            <a:avLst/>
          </a:prstGeom>
          <a:noFill/>
        </p:spPr>
        <p:txBody>
          <a:bodyPr wrap="square" lIns="0" rIns="0" tIns="0" bIns="0" anchor="t">
            <a:spAutoFit/>
          </a:bodyPr>
          <a:lstStyle/>
          <a:p>
            <a:pPr algn="l">
              <a:lnSpc>
                <a:spcPct val="118000"/>
              </a:lnSpc>
              <a:spcBef>
                <a:spcPts val="0"/>
              </a:spcBef>
              <a:spcAft>
                <a:spcPts val="0"/>
              </a:spcAft>
            </a:pPr>
            <a:r>
              <a:rPr sz="3933" b="1">
                <a:solidFill>
                  <a:srgbClr val="365DA3"/>
                </a:solidFill>
                <a:latin typeface="Arial"/>
                <a:ea typeface="Apple SD Gothic Neo"/>
              </a:rPr>
              <a:t>40</a:t>
            </a:r>
          </a:p>
        </p:txBody>
      </p:sp>
      <p:sp>
        <p:nvSpPr>
          <p:cNvPr id="12" name="TextBox 11"/>
          <p:cNvSpPr txBox="1"/>
          <p:nvPr/>
        </p:nvSpPr>
        <p:spPr>
          <a:xfrm>
            <a:off x="1642533" y="1371600"/>
            <a:ext cx="1989666" cy="5080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Python 테스트 통과</a:t>
            </a:r>
          </a:p>
        </p:txBody>
      </p:sp>
      <p:sp>
        <p:nvSpPr>
          <p:cNvPr id="13" name="TextBox 12"/>
          <p:cNvSpPr txBox="1"/>
          <p:nvPr/>
        </p:nvSpPr>
        <p:spPr>
          <a:xfrm>
            <a:off x="3691466" y="1219200"/>
            <a:ext cx="1100666" cy="643466"/>
          </a:xfrm>
          <a:prstGeom prst="rect">
            <a:avLst/>
          </a:prstGeom>
          <a:noFill/>
        </p:spPr>
        <p:txBody>
          <a:bodyPr wrap="square" lIns="0" rIns="0" tIns="0" bIns="0" anchor="t">
            <a:spAutoFit/>
          </a:bodyPr>
          <a:lstStyle/>
          <a:p>
            <a:pPr algn="l">
              <a:lnSpc>
                <a:spcPct val="118000"/>
              </a:lnSpc>
              <a:spcBef>
                <a:spcPts val="0"/>
              </a:spcBef>
              <a:spcAft>
                <a:spcPts val="0"/>
              </a:spcAft>
            </a:pPr>
            <a:r>
              <a:rPr sz="3933" b="1">
                <a:solidFill>
                  <a:srgbClr val="365DA3"/>
                </a:solidFill>
                <a:latin typeface="Arial"/>
                <a:ea typeface="Apple SD Gothic Neo"/>
              </a:rPr>
              <a:t>8</a:t>
            </a:r>
          </a:p>
        </p:txBody>
      </p:sp>
      <p:sp>
        <p:nvSpPr>
          <p:cNvPr id="14" name="TextBox 13"/>
          <p:cNvSpPr txBox="1"/>
          <p:nvPr/>
        </p:nvSpPr>
        <p:spPr>
          <a:xfrm>
            <a:off x="4859866" y="1371600"/>
            <a:ext cx="1989666" cy="5080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Java 테스트 통과</a:t>
            </a:r>
          </a:p>
        </p:txBody>
      </p:sp>
      <p:sp>
        <p:nvSpPr>
          <p:cNvPr id="15" name="TextBox 14"/>
          <p:cNvSpPr txBox="1"/>
          <p:nvPr/>
        </p:nvSpPr>
        <p:spPr>
          <a:xfrm>
            <a:off x="7399866" y="1320800"/>
            <a:ext cx="4318000" cy="550333"/>
          </a:xfrm>
          <a:prstGeom prst="rect">
            <a:avLst/>
          </a:prstGeom>
          <a:noFill/>
        </p:spPr>
        <p:txBody>
          <a:bodyPr wrap="square" lIns="0" rIns="0" tIns="0" bIns="0" anchor="t">
            <a:spAutoFit/>
          </a:bodyPr>
          <a:lstStyle/>
          <a:p>
            <a:pPr algn="l">
              <a:lnSpc>
                <a:spcPct val="118000"/>
              </a:lnSpc>
              <a:spcBef>
                <a:spcPts val="0"/>
              </a:spcBef>
              <a:spcAft>
                <a:spcPts val="0"/>
              </a:spcAft>
            </a:pPr>
            <a:r>
              <a:rPr sz="1600" b="0">
                <a:solidFill>
                  <a:srgbClr val="64748B"/>
                </a:solidFill>
                <a:latin typeface="Apple SD Gothic Neo"/>
                <a:ea typeface="Apple SD Gothic Neo"/>
              </a:rPr>
              <a:t>2026-10-21 · 로컬 코드 검증</a:t>
            </a:r>
          </a:p>
          <a:p>
            <a:pPr algn="l">
              <a:lnSpc>
                <a:spcPct val="118000"/>
              </a:lnSpc>
              <a:spcBef>
                <a:spcPts val="0"/>
              </a:spcBef>
              <a:spcAft>
                <a:spcPts val="0"/>
              </a:spcAft>
            </a:pPr>
            <a:r>
              <a:rPr sz="1600" b="0">
                <a:solidFill>
                  <a:srgbClr val="64748B"/>
                </a:solidFill>
                <a:latin typeface="Apple SD Gothic Neo"/>
                <a:ea typeface="Apple SD Gothic Neo"/>
              </a:rPr>
              <a:t>라이브 전체 시스템 재실행과 구분</a:t>
            </a:r>
          </a:p>
        </p:txBody>
      </p:sp>
      <p:sp>
        <p:nvSpPr>
          <p:cNvPr id="16" name="Rectangle 15"/>
          <p:cNvSpPr/>
          <p:nvPr/>
        </p:nvSpPr>
        <p:spPr>
          <a:xfrm>
            <a:off x="474133" y="2260600"/>
            <a:ext cx="2421466" cy="3640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2666" y="2328333"/>
            <a:ext cx="21844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FFFFFF"/>
                </a:solidFill>
                <a:latin typeface="Apple SD Gothic Neo"/>
                <a:ea typeface="Apple SD Gothic Neo"/>
              </a:rPr>
              <a:t>평가 영역</a:t>
            </a:r>
          </a:p>
        </p:txBody>
      </p:sp>
      <p:sp>
        <p:nvSpPr>
          <p:cNvPr id="18" name="Rectangle 17"/>
          <p:cNvSpPr/>
          <p:nvPr/>
        </p:nvSpPr>
        <p:spPr>
          <a:xfrm>
            <a:off x="2895600" y="2260600"/>
            <a:ext cx="5080000" cy="3640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4133" y="2328333"/>
            <a:ext cx="4842933" cy="262466"/>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FFFFFF"/>
                </a:solidFill>
                <a:latin typeface="Apple SD Gothic Neo"/>
                <a:ea typeface="Apple SD Gothic Neo"/>
              </a:rPr>
              <a:t>확인할 증거</a:t>
            </a:r>
          </a:p>
        </p:txBody>
      </p:sp>
      <p:sp>
        <p:nvSpPr>
          <p:cNvPr id="20" name="Rectangle 19"/>
          <p:cNvSpPr/>
          <p:nvPr/>
        </p:nvSpPr>
        <p:spPr>
          <a:xfrm>
            <a:off x="7975600" y="2260600"/>
            <a:ext cx="3742266" cy="3640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4133" y="2328333"/>
            <a:ext cx="3505200" cy="262466"/>
          </a:xfrm>
          <a:prstGeom prst="rect">
            <a:avLst/>
          </a:prstGeom>
          <a:noFill/>
        </p:spPr>
        <p:txBody>
          <a:bodyPr wrap="square" lIns="0" rIns="0" tIns="0" bIns="0" anchor="t">
            <a:spAutoFit/>
          </a:bodyPr>
          <a:lstStyle/>
          <a:p>
            <a:pPr algn="l">
              <a:lnSpc>
                <a:spcPct val="118000"/>
              </a:lnSpc>
              <a:spcBef>
                <a:spcPts val="0"/>
              </a:spcBef>
              <a:spcAft>
                <a:spcPts val="0"/>
              </a:spcAft>
            </a:pPr>
            <a:r>
              <a:rPr sz="1533" b="1">
                <a:solidFill>
                  <a:srgbClr val="FFFFFF"/>
                </a:solidFill>
                <a:latin typeface="Apple SD Gothic Neo"/>
                <a:ea typeface="Apple SD Gothic Neo"/>
              </a:rPr>
              <a:t>대표 위치 / 기록</a:t>
            </a:r>
          </a:p>
        </p:txBody>
      </p:sp>
      <p:sp>
        <p:nvSpPr>
          <p:cNvPr id="22" name="Rectangle 21"/>
          <p:cNvSpPr/>
          <p:nvPr/>
        </p:nvSpPr>
        <p:spPr>
          <a:xfrm>
            <a:off x="474133" y="2624666"/>
            <a:ext cx="11243733" cy="67733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2666" y="2802466"/>
            <a:ext cx="2184400" cy="4064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아키텍처 설계</a:t>
            </a:r>
          </a:p>
        </p:txBody>
      </p:sp>
      <p:sp>
        <p:nvSpPr>
          <p:cNvPr id="24" name="TextBox 23"/>
          <p:cNvSpPr txBox="1"/>
          <p:nvPr/>
        </p:nvSpPr>
        <p:spPr>
          <a:xfrm>
            <a:off x="3014133" y="2802466"/>
            <a:ext cx="4842933"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152840"/>
                </a:solidFill>
                <a:latin typeface="Apple SD Gothic Neo"/>
                <a:ea typeface="Apple SD Gothic Neo"/>
              </a:rPr>
              <a:t>책임·승인·실패 경로 + 품질 추적표</a:t>
            </a:r>
          </a:p>
        </p:txBody>
      </p:sp>
      <p:sp>
        <p:nvSpPr>
          <p:cNvPr id="25" name="TextBox 24"/>
          <p:cNvSpPr txBox="1"/>
          <p:nvPr/>
        </p:nvSpPr>
        <p:spPr>
          <a:xfrm>
            <a:off x="8094133" y="2802466"/>
            <a:ext cx="3505200"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QA-01–09 / Outbox·멱등 처리</a:t>
            </a:r>
          </a:p>
        </p:txBody>
      </p:sp>
      <p:sp>
        <p:nvSpPr>
          <p:cNvPr id="26" name="Rectangle 25"/>
          <p:cNvSpPr/>
          <p:nvPr/>
        </p:nvSpPr>
        <p:spPr>
          <a:xfrm>
            <a:off x="474133" y="3302000"/>
            <a:ext cx="11243733" cy="6773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2666" y="3479800"/>
            <a:ext cx="2184400" cy="4064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AI Agent 설계</a:t>
            </a:r>
          </a:p>
        </p:txBody>
      </p:sp>
      <p:sp>
        <p:nvSpPr>
          <p:cNvPr id="28" name="TextBox 27"/>
          <p:cNvSpPr txBox="1"/>
          <p:nvPr/>
        </p:nvSpPr>
        <p:spPr>
          <a:xfrm>
            <a:off x="3014133" y="3479800"/>
            <a:ext cx="4842933"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152840"/>
                </a:solidFill>
                <a:latin typeface="Apple SD Gothic Neo"/>
                <a:ea typeface="Apple SD Gothic Neo"/>
              </a:rPr>
              <a:t>State·조건 분기·선택 반복의 코드 대응</a:t>
            </a:r>
          </a:p>
        </p:txBody>
      </p:sp>
      <p:sp>
        <p:nvSpPr>
          <p:cNvPr id="29" name="TextBox 28"/>
          <p:cNvSpPr txBox="1"/>
          <p:nvPr/>
        </p:nvSpPr>
        <p:spPr>
          <a:xfrm>
            <a:off x="8094133" y="3479800"/>
            <a:ext cx="3505200"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graph.py / missing_requirements</a:t>
            </a:r>
          </a:p>
        </p:txBody>
      </p:sp>
      <p:sp>
        <p:nvSpPr>
          <p:cNvPr id="30" name="Rectangle 29"/>
          <p:cNvSpPr/>
          <p:nvPr/>
        </p:nvSpPr>
        <p:spPr>
          <a:xfrm>
            <a:off x="474133" y="3979333"/>
            <a:ext cx="11243733" cy="67733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2666" y="4157133"/>
            <a:ext cx="2184400" cy="4064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AI Agent 구현</a:t>
            </a:r>
          </a:p>
        </p:txBody>
      </p:sp>
      <p:sp>
        <p:nvSpPr>
          <p:cNvPr id="32" name="TextBox 31"/>
          <p:cNvSpPr txBox="1"/>
          <p:nvPr/>
        </p:nvSpPr>
        <p:spPr>
          <a:xfrm>
            <a:off x="3014133" y="4157133"/>
            <a:ext cx="4842933"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152840"/>
                </a:solidFill>
                <a:latin typeface="Apple SD Gothic Neo"/>
                <a:ea typeface="Apple SD Gothic Neo"/>
              </a:rPr>
              <a:t>실제 모델 선택·근거·승인 재개 기록</a:t>
            </a:r>
          </a:p>
        </p:txBody>
      </p:sp>
      <p:sp>
        <p:nvSpPr>
          <p:cNvPr id="33" name="TextBox 32"/>
          <p:cNvSpPr txBox="1"/>
          <p:nvPr/>
        </p:nvSpPr>
        <p:spPr>
          <a:xfrm>
            <a:off x="8094133" y="4157133"/>
            <a:ext cx="3505200"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2026-10-19 LLM trace / HITL</a:t>
            </a:r>
          </a:p>
        </p:txBody>
      </p:sp>
      <p:sp>
        <p:nvSpPr>
          <p:cNvPr id="34" name="Rectangle 33"/>
          <p:cNvSpPr/>
          <p:nvPr/>
        </p:nvSpPr>
        <p:spPr>
          <a:xfrm>
            <a:off x="474133" y="4656666"/>
            <a:ext cx="11243733" cy="6773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2666" y="4834466"/>
            <a:ext cx="2184400" cy="406400"/>
          </a:xfrm>
          <a:prstGeom prst="rect">
            <a:avLst/>
          </a:prstGeom>
          <a:noFill/>
        </p:spPr>
        <p:txBody>
          <a:bodyPr wrap="square" lIns="0" rIns="0" tIns="0" bIns="0" anchor="t">
            <a:spAutoFit/>
          </a:bodyPr>
          <a:lstStyle/>
          <a:p>
            <a:pPr algn="l">
              <a:lnSpc>
                <a:spcPct val="118000"/>
              </a:lnSpc>
              <a:spcBef>
                <a:spcPts val="0"/>
              </a:spcBef>
              <a:spcAft>
                <a:spcPts val="0"/>
              </a:spcAft>
            </a:pPr>
            <a:r>
              <a:rPr sz="1666" b="1">
                <a:solidFill>
                  <a:srgbClr val="152840"/>
                </a:solidFill>
                <a:latin typeface="Apple SD Gothic Neo"/>
                <a:ea typeface="Apple SD Gothic Neo"/>
              </a:rPr>
              <a:t>MCP 설계·구현</a:t>
            </a:r>
          </a:p>
        </p:txBody>
      </p:sp>
      <p:sp>
        <p:nvSpPr>
          <p:cNvPr id="36" name="TextBox 35"/>
          <p:cNvSpPr txBox="1"/>
          <p:nvPr/>
        </p:nvSpPr>
        <p:spPr>
          <a:xfrm>
            <a:off x="3014133" y="4834466"/>
            <a:ext cx="4842933"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152840"/>
                </a:solidFill>
                <a:latin typeface="Apple SD Gothic Neo"/>
                <a:ea typeface="Apple SD Gothic Neo"/>
              </a:rPr>
              <a:t>실제 연결·도구 설명·권한·예외 처리</a:t>
            </a:r>
          </a:p>
        </p:txBody>
      </p:sp>
      <p:sp>
        <p:nvSpPr>
          <p:cNvPr id="37" name="TextBox 36"/>
          <p:cNvSpPr txBox="1"/>
          <p:nvPr/>
        </p:nvSpPr>
        <p:spPr>
          <a:xfrm>
            <a:off x="8094133" y="4834466"/>
            <a:ext cx="3505200" cy="406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MCP Resource / 거부·재선택 시험</a:t>
            </a:r>
          </a:p>
        </p:txBody>
      </p:sp>
      <p:sp>
        <p:nvSpPr>
          <p:cNvPr id="38" name="Rectangle 37"/>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남은 검증: 오탐·미탐 / p95 지연·비용 / 사용자 평가 / 프로세스 강제 종료·부하·복구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APPENDIX  /  품질 요구사항 ↔ 설계 ↔ 검증 범위</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부록 A. ISO/IEC 25010의 9개 품질 특성 대응</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아키텍처 설계</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배점 10점</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공식 기준: ISO/IEC 25010:2023 · https://www.iso.org/standard/78176.html · 상세: ARCHITECTURE.md</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11</a:t>
            </a:r>
          </a:p>
        </p:txBody>
      </p:sp>
      <p:sp>
        <p:nvSpPr>
          <p:cNvPr id="11" name="TextBox 10"/>
          <p:cNvSpPr txBox="1"/>
          <p:nvPr/>
        </p:nvSpPr>
        <p:spPr>
          <a:xfrm>
            <a:off x="474133" y="1159933"/>
            <a:ext cx="11243733" cy="330200"/>
          </a:xfrm>
          <a:prstGeom prst="rect">
            <a:avLst/>
          </a:prstGeom>
          <a:noFill/>
        </p:spPr>
        <p:txBody>
          <a:bodyPr wrap="square" lIns="0" rIns="0" tIns="0" bIns="0" anchor="t">
            <a:spAutoFit/>
          </a:bodyPr>
          <a:lstStyle/>
          <a:p>
            <a:pPr algn="l">
              <a:lnSpc>
                <a:spcPct val="118000"/>
              </a:lnSpc>
              <a:spcBef>
                <a:spcPts val="0"/>
              </a:spcBef>
              <a:spcAft>
                <a:spcPts val="0"/>
              </a:spcAft>
            </a:pPr>
            <a:r>
              <a:rPr sz="1800" b="1">
                <a:solidFill>
                  <a:srgbClr val="152840"/>
                </a:solidFill>
                <a:latin typeface="Apple SD Gothic Neo"/>
                <a:ea typeface="Apple SD Gothic Neo"/>
              </a:rPr>
              <a:t>모든 항목을 문서화하되, 구현된 통제와 아직 측정하지 않은 품질을 구분합니다.</a:t>
            </a:r>
          </a:p>
        </p:txBody>
      </p:sp>
      <p:sp>
        <p:nvSpPr>
          <p:cNvPr id="12" name="Rectangle 11"/>
          <p:cNvSpPr/>
          <p:nvPr/>
        </p:nvSpPr>
        <p:spPr>
          <a:xfrm>
            <a:off x="474133" y="1642533"/>
            <a:ext cx="880533" cy="3386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733" y="1701800"/>
            <a:ext cx="677333" cy="245533"/>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FFFFFF"/>
                </a:solidFill>
                <a:latin typeface="Apple SD Gothic Neo"/>
                <a:ea typeface="Apple SD Gothic Neo"/>
              </a:rPr>
              <a:t>ID</a:t>
            </a:r>
          </a:p>
        </p:txBody>
      </p:sp>
      <p:sp>
        <p:nvSpPr>
          <p:cNvPr id="14" name="Rectangle 13"/>
          <p:cNvSpPr/>
          <p:nvPr/>
        </p:nvSpPr>
        <p:spPr>
          <a:xfrm>
            <a:off x="1354666" y="1642533"/>
            <a:ext cx="2192866" cy="3386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56266" y="1701800"/>
            <a:ext cx="19896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FFFFFF"/>
                </a:solidFill>
                <a:latin typeface="Apple SD Gothic Neo"/>
                <a:ea typeface="Apple SD Gothic Neo"/>
              </a:rPr>
              <a:t>품질 특성</a:t>
            </a:r>
          </a:p>
        </p:txBody>
      </p:sp>
      <p:sp>
        <p:nvSpPr>
          <p:cNvPr id="16" name="Rectangle 15"/>
          <p:cNvSpPr/>
          <p:nvPr/>
        </p:nvSpPr>
        <p:spPr>
          <a:xfrm>
            <a:off x="3547533" y="1642533"/>
            <a:ext cx="4631266" cy="3386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49133" y="1701800"/>
            <a:ext cx="44280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FFFFFF"/>
                </a:solidFill>
                <a:latin typeface="Apple SD Gothic Neo"/>
                <a:ea typeface="Apple SD Gothic Neo"/>
              </a:rPr>
              <a:t>CSI의 설계 결정</a:t>
            </a:r>
          </a:p>
        </p:txBody>
      </p:sp>
      <p:sp>
        <p:nvSpPr>
          <p:cNvPr id="18" name="Rectangle 17"/>
          <p:cNvSpPr/>
          <p:nvPr/>
        </p:nvSpPr>
        <p:spPr>
          <a:xfrm>
            <a:off x="8178800" y="1642533"/>
            <a:ext cx="3539066" cy="338666"/>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400" y="1701800"/>
            <a:ext cx="3335866" cy="245533"/>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FFFFFF"/>
                </a:solidFill>
                <a:latin typeface="Apple SD Gothic Neo"/>
                <a:ea typeface="Apple SD Gothic Neo"/>
              </a:rPr>
              <a:t>검증 상태 / 남은 범위</a:t>
            </a:r>
          </a:p>
        </p:txBody>
      </p:sp>
      <p:sp>
        <p:nvSpPr>
          <p:cNvPr id="20" name="Rectangle 19"/>
          <p:cNvSpPr/>
          <p:nvPr/>
        </p:nvSpPr>
        <p:spPr>
          <a:xfrm>
            <a:off x="474133" y="1981200"/>
            <a:ext cx="11243733" cy="4064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5733" y="20658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QA-01</a:t>
            </a:r>
          </a:p>
        </p:txBody>
      </p:sp>
      <p:sp>
        <p:nvSpPr>
          <p:cNvPr id="22" name="TextBox 21"/>
          <p:cNvSpPr txBox="1"/>
          <p:nvPr/>
        </p:nvSpPr>
        <p:spPr>
          <a:xfrm>
            <a:off x="1456266" y="20658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기능 적합성</a:t>
            </a:r>
          </a:p>
        </p:txBody>
      </p:sp>
      <p:sp>
        <p:nvSpPr>
          <p:cNvPr id="23" name="TextBox 22"/>
          <p:cNvSpPr txBox="1"/>
          <p:nvPr/>
        </p:nvSpPr>
        <p:spPr>
          <a:xfrm>
            <a:off x="3649133" y="20658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정적 근거 · 인용 ID · 변경 연결 검증</a:t>
            </a:r>
          </a:p>
        </p:txBody>
      </p:sp>
      <p:sp>
        <p:nvSpPr>
          <p:cNvPr id="24" name="TextBox 23"/>
          <p:cNvSpPr txBox="1"/>
          <p:nvPr/>
        </p:nvSpPr>
        <p:spPr>
          <a:xfrm>
            <a:off x="8280400" y="20658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샘플 통과 / 대표 정확도 미측정</a:t>
            </a:r>
          </a:p>
        </p:txBody>
      </p:sp>
      <p:sp>
        <p:nvSpPr>
          <p:cNvPr id="25" name="Rectangle 24"/>
          <p:cNvSpPr/>
          <p:nvPr/>
        </p:nvSpPr>
        <p:spPr>
          <a:xfrm>
            <a:off x="474133" y="2387600"/>
            <a:ext cx="11243733" cy="406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5733" y="24722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QA-02</a:t>
            </a:r>
          </a:p>
        </p:txBody>
      </p:sp>
      <p:sp>
        <p:nvSpPr>
          <p:cNvPr id="27" name="TextBox 26"/>
          <p:cNvSpPr txBox="1"/>
          <p:nvPr/>
        </p:nvSpPr>
        <p:spPr>
          <a:xfrm>
            <a:off x="1456266" y="24722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성능 효율성</a:t>
            </a:r>
          </a:p>
        </p:txBody>
      </p:sp>
      <p:sp>
        <p:nvSpPr>
          <p:cNvPr id="28" name="TextBox 27"/>
          <p:cNvSpPr txBox="1"/>
          <p:nvPr/>
        </p:nvSpPr>
        <p:spPr>
          <a:xfrm>
            <a:off x="3649133" y="24722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비동기 접수 · 모델/도구 예산 제한</a:t>
            </a:r>
          </a:p>
        </p:txBody>
      </p:sp>
      <p:sp>
        <p:nvSpPr>
          <p:cNvPr id="29" name="TextBox 28"/>
          <p:cNvSpPr txBox="1"/>
          <p:nvPr/>
        </p:nvSpPr>
        <p:spPr>
          <a:xfrm>
            <a:off x="8280400" y="24722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제한 테스트 / p95·비용 미측정</a:t>
            </a:r>
          </a:p>
        </p:txBody>
      </p:sp>
      <p:sp>
        <p:nvSpPr>
          <p:cNvPr id="30" name="Rectangle 29"/>
          <p:cNvSpPr/>
          <p:nvPr/>
        </p:nvSpPr>
        <p:spPr>
          <a:xfrm>
            <a:off x="474133" y="2794000"/>
            <a:ext cx="11243733" cy="4064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5733" y="28786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QA-03</a:t>
            </a:r>
          </a:p>
        </p:txBody>
      </p:sp>
      <p:sp>
        <p:nvSpPr>
          <p:cNvPr id="32" name="TextBox 31"/>
          <p:cNvSpPr txBox="1"/>
          <p:nvPr/>
        </p:nvSpPr>
        <p:spPr>
          <a:xfrm>
            <a:off x="1456266" y="28786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호환성</a:t>
            </a:r>
          </a:p>
        </p:txBody>
      </p:sp>
      <p:sp>
        <p:nvSpPr>
          <p:cNvPr id="33" name="TextBox 32"/>
          <p:cNvSpPr txBox="1"/>
          <p:nvPr/>
        </p:nvSpPr>
        <p:spPr>
          <a:xfrm>
            <a:off x="3649133" y="28786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JSON 계약 · Streamable HTTP · 구버전 조회</a:t>
            </a:r>
          </a:p>
        </p:txBody>
      </p:sp>
      <p:sp>
        <p:nvSpPr>
          <p:cNvPr id="34" name="TextBox 33"/>
          <p:cNvSpPr txBox="1"/>
          <p:nvPr/>
        </p:nvSpPr>
        <p:spPr>
          <a:xfrm>
            <a:off x="8280400" y="28786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로컬 통합 / 호환 행렬 미검증</a:t>
            </a:r>
          </a:p>
        </p:txBody>
      </p:sp>
      <p:sp>
        <p:nvSpPr>
          <p:cNvPr id="35" name="Rectangle 34"/>
          <p:cNvSpPr/>
          <p:nvPr/>
        </p:nvSpPr>
        <p:spPr>
          <a:xfrm>
            <a:off x="474133" y="3200400"/>
            <a:ext cx="11243733" cy="406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5733" y="32850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QA-04</a:t>
            </a:r>
          </a:p>
        </p:txBody>
      </p:sp>
      <p:sp>
        <p:nvSpPr>
          <p:cNvPr id="37" name="TextBox 36"/>
          <p:cNvSpPr txBox="1"/>
          <p:nvPr/>
        </p:nvSpPr>
        <p:spPr>
          <a:xfrm>
            <a:off x="1456266" y="32850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상호작용 능력</a:t>
            </a:r>
          </a:p>
        </p:txBody>
      </p:sp>
      <p:sp>
        <p:nvSpPr>
          <p:cNvPr id="38" name="TextBox 37"/>
          <p:cNvSpPr txBox="1"/>
          <p:nvPr/>
        </p:nvSpPr>
        <p:spPr>
          <a:xfrm>
            <a:off x="3649133" y="32850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상태·근거·불확실성 · SSE 후 재조회</a:t>
            </a:r>
          </a:p>
        </p:txBody>
      </p:sp>
      <p:sp>
        <p:nvSpPr>
          <p:cNvPr id="39" name="TextBox 38"/>
          <p:cNvSpPr txBox="1"/>
          <p:nvPr/>
        </p:nvSpPr>
        <p:spPr>
          <a:xfrm>
            <a:off x="8280400" y="32850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화면 E2E / 접근성 평가 부족</a:t>
            </a:r>
          </a:p>
        </p:txBody>
      </p:sp>
      <p:sp>
        <p:nvSpPr>
          <p:cNvPr id="40" name="Rectangle 39"/>
          <p:cNvSpPr/>
          <p:nvPr/>
        </p:nvSpPr>
        <p:spPr>
          <a:xfrm>
            <a:off x="474133" y="3606800"/>
            <a:ext cx="11243733" cy="4064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5733" y="36914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QA-05</a:t>
            </a:r>
          </a:p>
        </p:txBody>
      </p:sp>
      <p:sp>
        <p:nvSpPr>
          <p:cNvPr id="42" name="TextBox 41"/>
          <p:cNvSpPr txBox="1"/>
          <p:nvPr/>
        </p:nvSpPr>
        <p:spPr>
          <a:xfrm>
            <a:off x="1456266" y="36914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신뢰성</a:t>
            </a:r>
          </a:p>
        </p:txBody>
      </p:sp>
      <p:sp>
        <p:nvSpPr>
          <p:cNvPr id="43" name="TextBox 42"/>
          <p:cNvSpPr txBox="1"/>
          <p:nvPr/>
        </p:nvSpPr>
        <p:spPr>
          <a:xfrm>
            <a:off x="3649133" y="36914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Outbox · 멱등성 · checkpoint · 유한 재시도</a:t>
            </a:r>
          </a:p>
        </p:txBody>
      </p:sp>
      <p:sp>
        <p:nvSpPr>
          <p:cNvPr id="44" name="TextBox 43"/>
          <p:cNvSpPr txBox="1"/>
          <p:nvPr/>
        </p:nvSpPr>
        <p:spPr>
          <a:xfrm>
            <a:off x="8280400" y="36914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승인·장애 기록 / 복구 시험 부족</a:t>
            </a:r>
          </a:p>
        </p:txBody>
      </p:sp>
      <p:sp>
        <p:nvSpPr>
          <p:cNvPr id="45" name="Rectangle 44"/>
          <p:cNvSpPr/>
          <p:nvPr/>
        </p:nvSpPr>
        <p:spPr>
          <a:xfrm>
            <a:off x="474133" y="4013200"/>
            <a:ext cx="11243733" cy="406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5733" y="40978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QA-06</a:t>
            </a:r>
          </a:p>
        </p:txBody>
      </p:sp>
      <p:sp>
        <p:nvSpPr>
          <p:cNvPr id="47" name="TextBox 46"/>
          <p:cNvSpPr txBox="1"/>
          <p:nvPr/>
        </p:nvSpPr>
        <p:spPr>
          <a:xfrm>
            <a:off x="1456266" y="40978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보안성</a:t>
            </a:r>
          </a:p>
        </p:txBody>
      </p:sp>
      <p:sp>
        <p:nvSpPr>
          <p:cNvPr id="48" name="TextBox 47"/>
          <p:cNvSpPr txBox="1"/>
          <p:nvPr/>
        </p:nvSpPr>
        <p:spPr>
          <a:xfrm>
            <a:off x="3649133" y="40978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세션 / HMAC / Bearer · 마스킹 · allowlist</a:t>
            </a:r>
          </a:p>
        </p:txBody>
      </p:sp>
      <p:sp>
        <p:nvSpPr>
          <p:cNvPr id="49" name="TextBox 48"/>
          <p:cNvSpPr txBox="1"/>
          <p:nvPr/>
        </p:nvSpPr>
        <p:spPr>
          <a:xfrm>
            <a:off x="8280400" y="40978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거부 시험 / 종합 공격 평가 부족</a:t>
            </a:r>
          </a:p>
        </p:txBody>
      </p:sp>
      <p:sp>
        <p:nvSpPr>
          <p:cNvPr id="50" name="Rectangle 49"/>
          <p:cNvSpPr/>
          <p:nvPr/>
        </p:nvSpPr>
        <p:spPr>
          <a:xfrm>
            <a:off x="474133" y="4419600"/>
            <a:ext cx="11243733" cy="4064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5733" y="45042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QA-07</a:t>
            </a:r>
          </a:p>
        </p:txBody>
      </p:sp>
      <p:sp>
        <p:nvSpPr>
          <p:cNvPr id="52" name="TextBox 51"/>
          <p:cNvSpPr txBox="1"/>
          <p:nvPr/>
        </p:nvSpPr>
        <p:spPr>
          <a:xfrm>
            <a:off x="1456266" y="45042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유지보수성</a:t>
            </a:r>
          </a:p>
        </p:txBody>
      </p:sp>
      <p:sp>
        <p:nvSpPr>
          <p:cNvPr id="53" name="TextBox 52"/>
          <p:cNvSpPr txBox="1"/>
          <p:nvPr/>
        </p:nvSpPr>
        <p:spPr>
          <a:xfrm>
            <a:off x="3649133" y="45042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규칙·프롬프트·API 분리 · 회귀 테스트</a:t>
            </a:r>
          </a:p>
        </p:txBody>
      </p:sp>
      <p:sp>
        <p:nvSpPr>
          <p:cNvPr id="54" name="TextBox 53"/>
          <p:cNvSpPr txBox="1"/>
          <p:nvPr/>
        </p:nvSpPr>
        <p:spPr>
          <a:xfrm>
            <a:off x="8280400" y="45042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48개 테스트 / 변경 비용 미측정</a:t>
            </a:r>
          </a:p>
        </p:txBody>
      </p:sp>
      <p:sp>
        <p:nvSpPr>
          <p:cNvPr id="55" name="Rectangle 54"/>
          <p:cNvSpPr/>
          <p:nvPr/>
        </p:nvSpPr>
        <p:spPr>
          <a:xfrm>
            <a:off x="474133" y="4826000"/>
            <a:ext cx="11243733" cy="406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75733" y="49106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QA-08</a:t>
            </a:r>
          </a:p>
        </p:txBody>
      </p:sp>
      <p:sp>
        <p:nvSpPr>
          <p:cNvPr id="57" name="TextBox 56"/>
          <p:cNvSpPr txBox="1"/>
          <p:nvPr/>
        </p:nvSpPr>
        <p:spPr>
          <a:xfrm>
            <a:off x="1456266" y="49106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유연성</a:t>
            </a:r>
          </a:p>
        </p:txBody>
      </p:sp>
      <p:sp>
        <p:nvSpPr>
          <p:cNvPr id="58" name="TextBox 57"/>
          <p:cNvSpPr txBox="1"/>
          <p:nvPr/>
        </p:nvSpPr>
        <p:spPr>
          <a:xfrm>
            <a:off x="3649133" y="49106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Compose · 환경 변수 · 서비스별 배포</a:t>
            </a:r>
          </a:p>
        </p:txBody>
      </p:sp>
      <p:sp>
        <p:nvSpPr>
          <p:cNvPr id="59" name="TextBox 58"/>
          <p:cNvSpPr txBox="1"/>
          <p:nvPr/>
        </p:nvSpPr>
        <p:spPr>
          <a:xfrm>
            <a:off x="8280400" y="49106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로컬 기동 / 환경·확장 시험 부족</a:t>
            </a:r>
          </a:p>
        </p:txBody>
      </p:sp>
      <p:sp>
        <p:nvSpPr>
          <p:cNvPr id="60" name="Rectangle 59"/>
          <p:cNvSpPr/>
          <p:nvPr/>
        </p:nvSpPr>
        <p:spPr>
          <a:xfrm>
            <a:off x="474133" y="5232400"/>
            <a:ext cx="11243733" cy="4064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5733" y="5317066"/>
            <a:ext cx="677333" cy="304800"/>
          </a:xfrm>
          <a:prstGeom prst="rect">
            <a:avLst/>
          </a:prstGeom>
          <a:noFill/>
        </p:spPr>
        <p:txBody>
          <a:bodyPr wrap="square" lIns="0" rIns="0" tIns="0" bIns="0" anchor="t">
            <a:spAutoFit/>
          </a:bodyPr>
          <a:lstStyle/>
          <a:p>
            <a:pPr algn="l">
              <a:lnSpc>
                <a:spcPct val="118000"/>
              </a:lnSpc>
              <a:spcBef>
                <a:spcPts val="0"/>
              </a:spcBef>
              <a:spcAft>
                <a:spcPts val="0"/>
              </a:spcAft>
            </a:pPr>
            <a:r>
              <a:rPr sz="1333" b="0">
                <a:solidFill>
                  <a:srgbClr val="152840"/>
                </a:solidFill>
                <a:latin typeface="Apple SD Gothic Neo"/>
                <a:ea typeface="Apple SD Gothic Neo"/>
              </a:rPr>
              <a:t>QA-09</a:t>
            </a:r>
          </a:p>
        </p:txBody>
      </p:sp>
      <p:sp>
        <p:nvSpPr>
          <p:cNvPr id="62" name="TextBox 61"/>
          <p:cNvSpPr txBox="1"/>
          <p:nvPr/>
        </p:nvSpPr>
        <p:spPr>
          <a:xfrm>
            <a:off x="1456266" y="5317066"/>
            <a:ext cx="19896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1">
                <a:solidFill>
                  <a:srgbClr val="152840"/>
                </a:solidFill>
                <a:latin typeface="Apple SD Gothic Neo"/>
                <a:ea typeface="Apple SD Gothic Neo"/>
              </a:rPr>
              <a:t>안전성</a:t>
            </a:r>
          </a:p>
        </p:txBody>
      </p:sp>
      <p:sp>
        <p:nvSpPr>
          <p:cNvPr id="63" name="TextBox 62"/>
          <p:cNvSpPr txBox="1"/>
          <p:nvPr/>
        </p:nvSpPr>
        <p:spPr>
          <a:xfrm>
            <a:off x="3649133" y="5317066"/>
            <a:ext cx="44280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152840"/>
                </a:solidFill>
                <a:latin typeface="Apple SD Gothic Neo"/>
                <a:ea typeface="Apple SD Gothic Neo"/>
              </a:rPr>
              <a:t>HITL · 승인 재검증 · 임의 실행 제한</a:t>
            </a:r>
          </a:p>
        </p:txBody>
      </p:sp>
      <p:sp>
        <p:nvSpPr>
          <p:cNvPr id="64" name="TextBox 63"/>
          <p:cNvSpPr txBox="1"/>
          <p:nvPr/>
        </p:nvSpPr>
        <p:spPr>
          <a:xfrm>
            <a:off x="8280400" y="5317066"/>
            <a:ext cx="3335866" cy="304800"/>
          </a:xfrm>
          <a:prstGeom prst="rect">
            <a:avLst/>
          </a:prstGeom>
          <a:noFill/>
        </p:spPr>
        <p:txBody>
          <a:bodyPr wrap="square" lIns="0" rIns="0" tIns="0" bIns="0" anchor="t">
            <a:spAutoFit/>
          </a:bodyPr>
          <a:lstStyle/>
          <a:p>
            <a:pPr algn="l">
              <a:lnSpc>
                <a:spcPct val="118000"/>
              </a:lnSpc>
              <a:spcBef>
                <a:spcPts val="0"/>
              </a:spcBef>
              <a:spcAft>
                <a:spcPts val="0"/>
              </a:spcAft>
            </a:pPr>
            <a:r>
              <a:rPr sz="1466" b="0">
                <a:solidFill>
                  <a:srgbClr val="64748B"/>
                </a:solidFill>
                <a:latin typeface="Apple SD Gothic Neo"/>
                <a:ea typeface="Apple SD Gothic Neo"/>
              </a:rPr>
              <a:t>실행 통제 / 정식 위해 분석 없음</a:t>
            </a:r>
          </a:p>
        </p:txBody>
      </p:sp>
      <p:sp>
        <p:nvSpPr>
          <p:cNvPr id="65" name="Rectangle 64"/>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2011판 사용성 → 2023판 상호작용 능력 / 이식성 → 유연성 / 안전성 추가. 적합성 인증을 뜻하지 않습니다.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APPENDIX  /  SOURCE &amp; TEST TRACEABILITY</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부록 B. 평가 문구에서 코드와 테스트로 바로 이동</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검증 근거</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평가 근거 / 보충 설명</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검증 시점: V1·V2 2026-10-21 / V3 2026-10-19 / V4 2026-10-20 · 상세는 ARCHITECTURE.md</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12</a:t>
            </a:r>
          </a:p>
        </p:txBody>
      </p:sp>
      <p:sp>
        <p:nvSpPr>
          <p:cNvPr id="11" name="Rectangle 10"/>
          <p:cNvSpPr/>
          <p:nvPr/>
        </p:nvSpPr>
        <p:spPr>
          <a:xfrm>
            <a:off x="474133" y="1312333"/>
            <a:ext cx="2353733" cy="381000"/>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1405466"/>
            <a:ext cx="2082800" cy="254000"/>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FFFFFF"/>
                </a:solidFill>
                <a:latin typeface="Apple SD Gothic Neo"/>
                <a:ea typeface="Apple SD Gothic Neo"/>
              </a:rPr>
              <a:t>평가 문구</a:t>
            </a:r>
          </a:p>
        </p:txBody>
      </p:sp>
      <p:sp>
        <p:nvSpPr>
          <p:cNvPr id="13" name="Rectangle 12"/>
          <p:cNvSpPr/>
          <p:nvPr/>
        </p:nvSpPr>
        <p:spPr>
          <a:xfrm>
            <a:off x="2827866" y="1312333"/>
            <a:ext cx="4665133" cy="381000"/>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3333" y="1405466"/>
            <a:ext cx="4394200" cy="254000"/>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FFFFFF"/>
                </a:solidFill>
                <a:latin typeface="Apple SD Gothic Neo"/>
                <a:ea typeface="Apple SD Gothic Neo"/>
              </a:rPr>
              <a:t>구현의 시작점</a:t>
            </a:r>
          </a:p>
        </p:txBody>
      </p:sp>
      <p:sp>
        <p:nvSpPr>
          <p:cNvPr id="15" name="Rectangle 14"/>
          <p:cNvSpPr/>
          <p:nvPr/>
        </p:nvSpPr>
        <p:spPr>
          <a:xfrm>
            <a:off x="7493000" y="1312333"/>
            <a:ext cx="4224866" cy="381000"/>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8466" y="1405466"/>
            <a:ext cx="3953933" cy="254000"/>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FFFFFF"/>
                </a:solidFill>
                <a:latin typeface="Apple SD Gothic Neo"/>
                <a:ea typeface="Apple SD Gothic Neo"/>
              </a:rPr>
              <a:t>검증의 시작점</a:t>
            </a:r>
          </a:p>
        </p:txBody>
      </p:sp>
      <p:sp>
        <p:nvSpPr>
          <p:cNvPr id="17" name="Rectangle 16"/>
          <p:cNvSpPr/>
          <p:nvPr/>
        </p:nvSpPr>
        <p:spPr>
          <a:xfrm>
            <a:off x="474133" y="1693333"/>
            <a:ext cx="11243733" cy="93133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1896533"/>
            <a:ext cx="2082800" cy="677333"/>
          </a:xfrm>
          <a:prstGeom prst="rect">
            <a:avLst/>
          </a:prstGeom>
          <a:noFill/>
        </p:spPr>
        <p:txBody>
          <a:bodyPr wrap="square" lIns="0" rIns="0" tIns="0" bIns="0" anchor="t">
            <a:spAutoFit/>
          </a:bodyPr>
          <a:lstStyle/>
          <a:p>
            <a:pPr algn="l">
              <a:lnSpc>
                <a:spcPct val="140000"/>
              </a:lnSpc>
              <a:spcBef>
                <a:spcPts val="0"/>
              </a:spcBef>
              <a:spcAft>
                <a:spcPts val="0"/>
              </a:spcAft>
            </a:pPr>
            <a:r>
              <a:rPr sz="1600" b="1">
                <a:solidFill>
                  <a:srgbClr val="152840"/>
                </a:solidFill>
                <a:latin typeface="Apple SD Gothic Neo"/>
                <a:ea typeface="Apple SD Gothic Neo"/>
              </a:rPr>
              <a:t>전체 AI 구조 · 품질 고려</a:t>
            </a:r>
          </a:p>
        </p:txBody>
      </p:sp>
      <p:sp>
        <p:nvSpPr>
          <p:cNvPr id="19" name="TextBox 18"/>
          <p:cNvSpPr txBox="1"/>
          <p:nvPr/>
        </p:nvSpPr>
        <p:spPr>
          <a:xfrm>
            <a:off x="2963333" y="1896533"/>
            <a:ext cx="4394200"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152840"/>
                </a:solidFill>
                <a:latin typeface="Apple SD Gothic Neo"/>
                <a:ea typeface="Apple SD Gothic Neo"/>
              </a:rPr>
              <a:t>docs/ARCHITECTURE.md</a:t>
            </a:r>
          </a:p>
          <a:p>
            <a:pPr algn="l">
              <a:lnSpc>
                <a:spcPct val="140000"/>
              </a:lnSpc>
              <a:spcBef>
                <a:spcPts val="0"/>
              </a:spcBef>
              <a:spcAft>
                <a:spcPts val="0"/>
              </a:spcAft>
            </a:pPr>
            <a:r>
              <a:rPr sz="1466" b="0">
                <a:solidFill>
                  <a:srgbClr val="152840"/>
                </a:solidFill>
                <a:latin typeface="Apple SD Gothic Neo"/>
                <a:ea typeface="Apple SD Gothic Neo"/>
              </a:rPr>
              <a:t>Intake.java · KafkaPipeline.java</a:t>
            </a:r>
          </a:p>
        </p:txBody>
      </p:sp>
      <p:sp>
        <p:nvSpPr>
          <p:cNvPr id="20" name="TextBox 19"/>
          <p:cNvSpPr txBox="1"/>
          <p:nvPr/>
        </p:nvSpPr>
        <p:spPr>
          <a:xfrm>
            <a:off x="7628466" y="1896533"/>
            <a:ext cx="3953933"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64748B"/>
                </a:solidFill>
                <a:latin typeface="Apple SD Gothic Neo"/>
                <a:ea typeface="Apple SD Gothic Neo"/>
              </a:rPr>
              <a:t>V1·V2 단위 검증</a:t>
            </a:r>
          </a:p>
          <a:p>
            <a:pPr algn="l">
              <a:lnSpc>
                <a:spcPct val="140000"/>
              </a:lnSpc>
              <a:spcBef>
                <a:spcPts val="0"/>
              </a:spcBef>
              <a:spcAft>
                <a:spcPts val="0"/>
              </a:spcAft>
            </a:pPr>
            <a:r>
              <a:rPr sz="1466" b="0">
                <a:solidFill>
                  <a:srgbClr val="64748B"/>
                </a:solidFill>
                <a:latin typeface="Apple SD Gothic Neo"/>
                <a:ea typeface="Apple SD Gothic Neo"/>
              </a:rPr>
              <a:t>V3 Outbox·중복·장애 기록</a:t>
            </a:r>
          </a:p>
        </p:txBody>
      </p:sp>
      <p:sp>
        <p:nvSpPr>
          <p:cNvPr id="21" name="Rectangle 20"/>
          <p:cNvSpPr/>
          <p:nvPr/>
        </p:nvSpPr>
        <p:spPr>
          <a:xfrm>
            <a:off x="474133" y="2624666"/>
            <a:ext cx="11243733" cy="9313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600" y="2827866"/>
            <a:ext cx="2082800" cy="677333"/>
          </a:xfrm>
          <a:prstGeom prst="rect">
            <a:avLst/>
          </a:prstGeom>
          <a:noFill/>
        </p:spPr>
        <p:txBody>
          <a:bodyPr wrap="square" lIns="0" rIns="0" tIns="0" bIns="0" anchor="t">
            <a:spAutoFit/>
          </a:bodyPr>
          <a:lstStyle/>
          <a:p>
            <a:pPr algn="l">
              <a:lnSpc>
                <a:spcPct val="140000"/>
              </a:lnSpc>
              <a:spcBef>
                <a:spcPts val="0"/>
              </a:spcBef>
              <a:spcAft>
                <a:spcPts val="0"/>
              </a:spcAft>
            </a:pPr>
            <a:r>
              <a:rPr sz="1600" b="1">
                <a:solidFill>
                  <a:srgbClr val="152840"/>
                </a:solidFill>
                <a:latin typeface="Apple SD Gothic Neo"/>
                <a:ea typeface="Apple SD Gothic Neo"/>
              </a:rPr>
              <a:t>State · 분기 · 반복 설계</a:t>
            </a:r>
          </a:p>
        </p:txBody>
      </p:sp>
      <p:sp>
        <p:nvSpPr>
          <p:cNvPr id="23" name="TextBox 22"/>
          <p:cNvSpPr txBox="1"/>
          <p:nvPr/>
        </p:nvSpPr>
        <p:spPr>
          <a:xfrm>
            <a:off x="2963333" y="2827866"/>
            <a:ext cx="4394200"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152840"/>
                </a:solidFill>
                <a:latin typeface="Apple SD Gothic Neo"/>
                <a:ea typeface="Apple SD Gothic Neo"/>
              </a:rPr>
              <a:t>agent/csi_agent/graph.py</a:t>
            </a:r>
          </a:p>
          <a:p>
            <a:pPr algn="l">
              <a:lnSpc>
                <a:spcPct val="140000"/>
              </a:lnSpc>
              <a:spcBef>
                <a:spcPts val="0"/>
              </a:spcBef>
              <a:spcAft>
                <a:spcPts val="0"/>
              </a:spcAft>
            </a:pPr>
            <a:r>
              <a:rPr sz="1466" b="0">
                <a:solidFill>
                  <a:srgbClr val="152840"/>
                </a:solidFill>
                <a:latin typeface="Apple SD Gothic Neo"/>
                <a:ea typeface="Apple SD Gothic Neo"/>
              </a:rPr>
              <a:t>planner.py · harness.py</a:t>
            </a:r>
          </a:p>
        </p:txBody>
      </p:sp>
      <p:sp>
        <p:nvSpPr>
          <p:cNvPr id="24" name="TextBox 23"/>
          <p:cNvSpPr txBox="1"/>
          <p:nvPr/>
        </p:nvSpPr>
        <p:spPr>
          <a:xfrm>
            <a:off x="7628466" y="2827866"/>
            <a:ext cx="3953933"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64748B"/>
                </a:solidFill>
                <a:latin typeface="Apple SD Gothic Neo"/>
                <a:ea typeface="Apple SD Gothic Neo"/>
              </a:rPr>
              <a:t>tests/test_agent_loop.py</a:t>
            </a:r>
          </a:p>
          <a:p>
            <a:pPr algn="l">
              <a:lnSpc>
                <a:spcPct val="140000"/>
              </a:lnSpc>
              <a:spcBef>
                <a:spcPts val="0"/>
              </a:spcBef>
              <a:spcAft>
                <a:spcPts val="0"/>
              </a:spcAft>
            </a:pPr>
            <a:r>
              <a:rPr sz="1466" b="0">
                <a:solidFill>
                  <a:srgbClr val="64748B"/>
                </a:solidFill>
                <a:latin typeface="Apple SD Gothic Neo"/>
                <a:ea typeface="Apple SD Gothic Neo"/>
              </a:rPr>
              <a:t>종료 거절 · 오류 후 재선택</a:t>
            </a:r>
          </a:p>
        </p:txBody>
      </p:sp>
      <p:sp>
        <p:nvSpPr>
          <p:cNvPr id="25" name="Rectangle 24"/>
          <p:cNvSpPr/>
          <p:nvPr/>
        </p:nvSpPr>
        <p:spPr>
          <a:xfrm>
            <a:off x="474133" y="3556000"/>
            <a:ext cx="11243733" cy="93133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600" y="3759200"/>
            <a:ext cx="2082800" cy="677333"/>
          </a:xfrm>
          <a:prstGeom prst="rect">
            <a:avLst/>
          </a:prstGeom>
          <a:noFill/>
        </p:spPr>
        <p:txBody>
          <a:bodyPr wrap="square" lIns="0" rIns="0" tIns="0" bIns="0" anchor="t">
            <a:spAutoFit/>
          </a:bodyPr>
          <a:lstStyle/>
          <a:p>
            <a:pPr algn="l">
              <a:lnSpc>
                <a:spcPct val="140000"/>
              </a:lnSpc>
              <a:spcBef>
                <a:spcPts val="0"/>
              </a:spcBef>
              <a:spcAft>
                <a:spcPts val="0"/>
              </a:spcAft>
            </a:pPr>
            <a:r>
              <a:rPr sz="1600" b="1">
                <a:solidFill>
                  <a:srgbClr val="152840"/>
                </a:solidFill>
                <a:latin typeface="Apple SD Gothic Neo"/>
                <a:ea typeface="Apple SD Gothic Neo"/>
              </a:rPr>
              <a:t>모델 선택 · 근거 · 재개</a:t>
            </a:r>
          </a:p>
        </p:txBody>
      </p:sp>
      <p:sp>
        <p:nvSpPr>
          <p:cNvPr id="27" name="TextBox 26"/>
          <p:cNvSpPr txBox="1"/>
          <p:nvPr/>
        </p:nvSpPr>
        <p:spPr>
          <a:xfrm>
            <a:off x="2963333" y="3759200"/>
            <a:ext cx="4394200"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152840"/>
                </a:solidFill>
                <a:latin typeface="Apple SD Gothic Neo"/>
                <a:ea typeface="Apple SD Gothic Neo"/>
              </a:rPr>
              <a:t>planner.py · analysis.py · app.py</a:t>
            </a:r>
          </a:p>
          <a:p>
            <a:pPr algn="l">
              <a:lnSpc>
                <a:spcPct val="140000"/>
              </a:lnSpc>
              <a:spcBef>
                <a:spcPts val="0"/>
              </a:spcBef>
              <a:spcAft>
                <a:spcPts val="0"/>
              </a:spcAft>
            </a:pPr>
            <a:r>
              <a:rPr sz="1466" b="0">
                <a:solidFill>
                  <a:srgbClr val="152840"/>
                </a:solidFill>
                <a:latin typeface="Apple SD Gothic Neo"/>
                <a:ea typeface="Apple SD Gothic Neo"/>
              </a:rPr>
              <a:t>PostgresSaver / Command(resume)</a:t>
            </a:r>
          </a:p>
        </p:txBody>
      </p:sp>
      <p:sp>
        <p:nvSpPr>
          <p:cNvPr id="28" name="TextBox 27"/>
          <p:cNvSpPr txBox="1"/>
          <p:nvPr/>
        </p:nvSpPr>
        <p:spPr>
          <a:xfrm>
            <a:off x="7628466" y="3759200"/>
            <a:ext cx="3953933"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64748B"/>
                </a:solidFill>
                <a:latin typeface="Apple SD Gothic Neo"/>
                <a:ea typeface="Apple SD Gothic Neo"/>
              </a:rPr>
              <a:t>test_review_quality.py</a:t>
            </a:r>
          </a:p>
          <a:p>
            <a:pPr algn="l">
              <a:lnSpc>
                <a:spcPct val="140000"/>
              </a:lnSpc>
              <a:spcBef>
                <a:spcPts val="0"/>
              </a:spcBef>
              <a:spcAft>
                <a:spcPts val="0"/>
              </a:spcAft>
            </a:pPr>
            <a:r>
              <a:rPr sz="1466" b="0">
                <a:solidFill>
                  <a:srgbClr val="64748B"/>
                </a:solidFill>
                <a:latin typeface="Apple SD Gothic Neo"/>
                <a:ea typeface="Apple SD Gothic Neo"/>
              </a:rPr>
              <a:t>AGENT_HARNESS.md / V3 HITL</a:t>
            </a:r>
          </a:p>
        </p:txBody>
      </p:sp>
      <p:sp>
        <p:nvSpPr>
          <p:cNvPr id="29" name="Rectangle 28"/>
          <p:cNvSpPr/>
          <p:nvPr/>
        </p:nvSpPr>
        <p:spPr>
          <a:xfrm>
            <a:off x="474133" y="4487333"/>
            <a:ext cx="11243733" cy="9313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600" y="4690533"/>
            <a:ext cx="2082800" cy="677333"/>
          </a:xfrm>
          <a:prstGeom prst="rect">
            <a:avLst/>
          </a:prstGeom>
          <a:noFill/>
        </p:spPr>
        <p:txBody>
          <a:bodyPr wrap="square" lIns="0" rIns="0" tIns="0" bIns="0" anchor="t">
            <a:spAutoFit/>
          </a:bodyPr>
          <a:lstStyle/>
          <a:p>
            <a:pPr algn="l">
              <a:lnSpc>
                <a:spcPct val="140000"/>
              </a:lnSpc>
              <a:spcBef>
                <a:spcPts val="0"/>
              </a:spcBef>
              <a:spcAft>
                <a:spcPts val="0"/>
              </a:spcAft>
            </a:pPr>
            <a:r>
              <a:rPr sz="1600" b="1">
                <a:solidFill>
                  <a:srgbClr val="152840"/>
                </a:solidFill>
                <a:latin typeface="Apple SD Gothic Neo"/>
                <a:ea typeface="Apple SD Gothic Neo"/>
              </a:rPr>
              <a:t>MCP 연결 · 변경 · 예외</a:t>
            </a:r>
          </a:p>
        </p:txBody>
      </p:sp>
      <p:sp>
        <p:nvSpPr>
          <p:cNvPr id="31" name="TextBox 30"/>
          <p:cNvSpPr txBox="1"/>
          <p:nvPr/>
        </p:nvSpPr>
        <p:spPr>
          <a:xfrm>
            <a:off x="2963333" y="4690533"/>
            <a:ext cx="4394200"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152840"/>
                </a:solidFill>
                <a:latin typeface="Apple SD Gothic Neo"/>
                <a:ea typeface="Apple SD Gothic Neo"/>
              </a:rPr>
              <a:t>mcp_servers/business.py · rag.py</a:t>
            </a:r>
          </a:p>
          <a:p>
            <a:pPr algn="l">
              <a:lnSpc>
                <a:spcPct val="140000"/>
              </a:lnSpc>
              <a:spcBef>
                <a:spcPts val="0"/>
              </a:spcBef>
              <a:spcAft>
                <a:spcPts val="0"/>
              </a:spcAft>
            </a:pPr>
            <a:r>
              <a:rPr sz="1466" b="0">
                <a:solidFill>
                  <a:srgbClr val="152840"/>
                </a:solidFill>
                <a:latin typeface="Apple SD Gothic Neo"/>
                <a:ea typeface="Apple SD Gothic Neo"/>
              </a:rPr>
              <a:t>common.py · graph.py tool()</a:t>
            </a:r>
          </a:p>
        </p:txBody>
      </p:sp>
      <p:sp>
        <p:nvSpPr>
          <p:cNvPr id="32" name="TextBox 31"/>
          <p:cNvSpPr txBox="1"/>
          <p:nvPr/>
        </p:nvSpPr>
        <p:spPr>
          <a:xfrm>
            <a:off x="7628466" y="4690533"/>
            <a:ext cx="3953933" cy="677333"/>
          </a:xfrm>
          <a:prstGeom prst="rect">
            <a:avLst/>
          </a:prstGeom>
          <a:noFill/>
        </p:spPr>
        <p:txBody>
          <a:bodyPr wrap="square" lIns="0" rIns="0" tIns="0" bIns="0" anchor="t">
            <a:spAutoFit/>
          </a:bodyPr>
          <a:lstStyle/>
          <a:p>
            <a:pPr algn="l">
              <a:lnSpc>
                <a:spcPct val="140000"/>
              </a:lnSpc>
              <a:spcBef>
                <a:spcPts val="0"/>
              </a:spcBef>
              <a:spcAft>
                <a:spcPts val="0"/>
              </a:spcAft>
            </a:pPr>
            <a:r>
              <a:rPr sz="1466" b="0">
                <a:solidFill>
                  <a:srgbClr val="64748B"/>
                </a:solidFill>
                <a:latin typeface="Apple SD Gothic Neo"/>
                <a:ea typeface="Apple SD Gothic Neo"/>
              </a:rPr>
              <a:t>annotation · 쓰기 제안 거부</a:t>
            </a:r>
          </a:p>
          <a:p>
            <a:pPr algn="l">
              <a:lnSpc>
                <a:spcPct val="140000"/>
              </a:lnSpc>
              <a:spcBef>
                <a:spcPts val="0"/>
              </a:spcBef>
              <a:spcAft>
                <a:spcPts val="0"/>
              </a:spcAft>
            </a:pPr>
            <a:r>
              <a:rPr sz="1466" b="0">
                <a:solidFill>
                  <a:srgbClr val="64748B"/>
                </a:solidFill>
                <a:latin typeface="Apple SD Gothic Neo"/>
                <a:ea typeface="Apple SD Gothic Neo"/>
              </a:rPr>
              <a:t>실제 Resource / 토큰 거부 기록</a:t>
            </a:r>
          </a:p>
        </p:txBody>
      </p:sp>
      <p:sp>
        <p:nvSpPr>
          <p:cNvPr id="33" name="Rectangle 32"/>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테스트 대역의 통과와 라이브 LLM·MCP·DB 통합의 증거를 분리하여 보여 주세요.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931333"/>
          </a:xfrm>
          <a:prstGeom prst="rect">
            <a:avLst/>
          </a:prstGeom>
          <a:solidFill>
            <a:srgbClr val="061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4133" y="254000"/>
            <a:ext cx="33866" cy="4402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3466" y="143933"/>
            <a:ext cx="8128000" cy="211666"/>
          </a:xfrm>
          <a:prstGeom prst="rect">
            <a:avLst/>
          </a:prstGeom>
          <a:noFill/>
        </p:spPr>
        <p:txBody>
          <a:bodyPr wrap="square" lIns="0" rIns="0" tIns="0" bIns="0" anchor="t">
            <a:spAutoFit/>
          </a:bodyPr>
          <a:lstStyle/>
          <a:p>
            <a:pPr algn="l">
              <a:lnSpc>
                <a:spcPct val="118000"/>
              </a:lnSpc>
              <a:spcBef>
                <a:spcPts val="0"/>
              </a:spcBef>
              <a:spcAft>
                <a:spcPts val="0"/>
              </a:spcAft>
            </a:pPr>
            <a:r>
              <a:rPr sz="1066" b="1">
                <a:solidFill>
                  <a:srgbClr val="B9C8DD"/>
                </a:solidFill>
                <a:latin typeface="Arial"/>
                <a:ea typeface="Apple SD Gothic Neo"/>
              </a:rPr>
              <a:t>APPENDIX  /  DEMO CHECKLIST</a:t>
            </a:r>
          </a:p>
        </p:txBody>
      </p:sp>
      <p:sp>
        <p:nvSpPr>
          <p:cNvPr id="5" name="TextBox 4"/>
          <p:cNvSpPr txBox="1"/>
          <p:nvPr/>
        </p:nvSpPr>
        <p:spPr>
          <a:xfrm>
            <a:off x="643466" y="406400"/>
            <a:ext cx="8551333" cy="440266"/>
          </a:xfrm>
          <a:prstGeom prst="rect">
            <a:avLst/>
          </a:prstGeom>
          <a:noFill/>
        </p:spPr>
        <p:txBody>
          <a:bodyPr wrap="square" lIns="0" rIns="0" tIns="0" bIns="0" anchor="t">
            <a:spAutoFit/>
          </a:bodyPr>
          <a:lstStyle/>
          <a:p>
            <a:pPr algn="l">
              <a:lnSpc>
                <a:spcPct val="118000"/>
              </a:lnSpc>
              <a:spcBef>
                <a:spcPts val="0"/>
              </a:spcBef>
              <a:spcAft>
                <a:spcPts val="0"/>
              </a:spcAft>
            </a:pPr>
            <a:r>
              <a:rPr sz="2400" b="1">
                <a:solidFill>
                  <a:srgbClr val="FFFFFF"/>
                </a:solidFill>
                <a:latin typeface="Apple SD Gothic Neo"/>
                <a:ea typeface="Apple SD Gothic Neo"/>
              </a:rPr>
              <a:t>부록 C. 화면에서 평가 근거를 확인하는 시연 순서</a:t>
            </a:r>
          </a:p>
        </p:txBody>
      </p:sp>
      <p:sp>
        <p:nvSpPr>
          <p:cNvPr id="6" name="TextBox 5"/>
          <p:cNvSpPr txBox="1"/>
          <p:nvPr/>
        </p:nvSpPr>
        <p:spPr>
          <a:xfrm>
            <a:off x="9482666" y="228600"/>
            <a:ext cx="2235200" cy="237066"/>
          </a:xfrm>
          <a:prstGeom prst="rect">
            <a:avLst/>
          </a:prstGeom>
          <a:noFill/>
        </p:spPr>
        <p:txBody>
          <a:bodyPr wrap="square" lIns="0" rIns="0" tIns="0" bIns="0" anchor="t">
            <a:spAutoFit/>
          </a:bodyPr>
          <a:lstStyle/>
          <a:p>
            <a:pPr algn="r">
              <a:lnSpc>
                <a:spcPct val="118000"/>
              </a:lnSpc>
              <a:spcBef>
                <a:spcPts val="0"/>
              </a:spcBef>
              <a:spcAft>
                <a:spcPts val="0"/>
              </a:spcAft>
            </a:pPr>
            <a:r>
              <a:rPr sz="1466" b="1">
                <a:solidFill>
                  <a:srgbClr val="FFFFFF"/>
                </a:solidFill>
                <a:latin typeface="Apple SD Gothic Neo"/>
                <a:ea typeface="Apple SD Gothic Neo"/>
              </a:rPr>
              <a:t>발표 · 질의응답</a:t>
            </a:r>
          </a:p>
        </p:txBody>
      </p:sp>
      <p:sp>
        <p:nvSpPr>
          <p:cNvPr id="7" name="TextBox 6"/>
          <p:cNvSpPr txBox="1"/>
          <p:nvPr/>
        </p:nvSpPr>
        <p:spPr>
          <a:xfrm>
            <a:off x="9482666" y="508000"/>
            <a:ext cx="2235200" cy="203200"/>
          </a:xfrm>
          <a:prstGeom prst="rect">
            <a:avLst/>
          </a:prstGeom>
          <a:noFill/>
        </p:spPr>
        <p:txBody>
          <a:bodyPr wrap="square" lIns="0" rIns="0" tIns="0" bIns="0" anchor="t">
            <a:spAutoFit/>
          </a:bodyPr>
          <a:lstStyle/>
          <a:p>
            <a:pPr algn="r">
              <a:lnSpc>
                <a:spcPct val="118000"/>
              </a:lnSpc>
              <a:spcBef>
                <a:spcPts val="0"/>
              </a:spcBef>
              <a:spcAft>
                <a:spcPts val="0"/>
              </a:spcAft>
            </a:pPr>
            <a:r>
              <a:rPr sz="1200" b="0">
                <a:solidFill>
                  <a:srgbClr val="B9C8DD"/>
                </a:solidFill>
                <a:latin typeface="Apple SD Gothic Neo"/>
                <a:ea typeface="Apple SD Gothic Neo"/>
              </a:rPr>
              <a:t>평가 근거 / 보충 설명</a:t>
            </a:r>
          </a:p>
        </p:txBody>
      </p:sp>
      <p:cxnSp>
        <p:nvCxnSpPr>
          <p:cNvPr id="8" name="Connector 7"/>
          <p:cNvCxnSpPr/>
          <p:nvPr/>
        </p:nvCxnSpPr>
        <p:spPr>
          <a:xfrm>
            <a:off x="474133" y="6485466"/>
            <a:ext cx="11243733" cy="0"/>
          </a:xfrm>
          <a:prstGeom prst="line">
            <a:avLst/>
          </a:prstGeom>
          <a:ln w="8466">
            <a:solidFill>
              <a:srgbClr val="D7DFE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4133" y="6604000"/>
            <a:ext cx="10541000" cy="186266"/>
          </a:xfrm>
          <a:prstGeom prst="rect">
            <a:avLst/>
          </a:prstGeom>
          <a:noFill/>
        </p:spPr>
        <p:txBody>
          <a:bodyPr wrap="square" lIns="0" rIns="0" tIns="0" bIns="0" anchor="t">
            <a:spAutoFit/>
          </a:bodyPr>
          <a:lstStyle/>
          <a:p>
            <a:pPr algn="l">
              <a:lnSpc>
                <a:spcPct val="118000"/>
              </a:lnSpc>
              <a:spcBef>
                <a:spcPts val="0"/>
              </a:spcBef>
              <a:spcAft>
                <a:spcPts val="0"/>
              </a:spcAft>
            </a:pPr>
            <a:r>
              <a:rPr sz="933" b="0">
                <a:solidFill>
                  <a:srgbClr val="64748B"/>
                </a:solidFill>
                <a:latin typeface="Apple SD Gothic Neo"/>
                <a:ea typeface="Apple SD Gothic Neo"/>
              </a:rPr>
              <a:t>화면 경로: 검사 이력 → 검사 상세 → 취약점 상세 → 실행 로그 → 승인 대기 · 실제 데이터 필요</a:t>
            </a:r>
          </a:p>
        </p:txBody>
      </p:sp>
      <p:sp>
        <p:nvSpPr>
          <p:cNvPr id="10" name="TextBox 9"/>
          <p:cNvSpPr txBox="1"/>
          <p:nvPr/>
        </p:nvSpPr>
        <p:spPr>
          <a:xfrm>
            <a:off x="11176000" y="6587066"/>
            <a:ext cx="541866" cy="220133"/>
          </a:xfrm>
          <a:prstGeom prst="rect">
            <a:avLst/>
          </a:prstGeom>
          <a:noFill/>
        </p:spPr>
        <p:txBody>
          <a:bodyPr wrap="square" lIns="0" rIns="0" tIns="0" bIns="0" anchor="t">
            <a:spAutoFit/>
          </a:bodyPr>
          <a:lstStyle/>
          <a:p>
            <a:pPr algn="r">
              <a:lnSpc>
                <a:spcPct val="118000"/>
              </a:lnSpc>
              <a:spcBef>
                <a:spcPts val="0"/>
              </a:spcBef>
              <a:spcAft>
                <a:spcPts val="0"/>
              </a:spcAft>
            </a:pPr>
            <a:r>
              <a:rPr sz="1333" b="0">
                <a:solidFill>
                  <a:srgbClr val="64748B"/>
                </a:solidFill>
                <a:latin typeface="Arial"/>
                <a:ea typeface="Apple SD Gothic Neo"/>
              </a:rPr>
              <a:t>13</a:t>
            </a:r>
          </a:p>
        </p:txBody>
      </p:sp>
      <p:sp>
        <p:nvSpPr>
          <p:cNvPr id="11" name="TextBox 10"/>
          <p:cNvSpPr txBox="1"/>
          <p:nvPr/>
        </p:nvSpPr>
        <p:spPr>
          <a:xfrm>
            <a:off x="474133" y="1202266"/>
            <a:ext cx="11243733" cy="347133"/>
          </a:xfrm>
          <a:prstGeom prst="rect">
            <a:avLst/>
          </a:prstGeom>
          <a:noFill/>
        </p:spPr>
        <p:txBody>
          <a:bodyPr wrap="square" lIns="0" rIns="0" tIns="0" bIns="0" anchor="t">
            <a:spAutoFit/>
          </a:bodyPr>
          <a:lstStyle/>
          <a:p>
            <a:pPr algn="l">
              <a:lnSpc>
                <a:spcPct val="118000"/>
              </a:lnSpc>
              <a:spcBef>
                <a:spcPts val="0"/>
              </a:spcBef>
              <a:spcAft>
                <a:spcPts val="0"/>
              </a:spcAft>
            </a:pPr>
            <a:r>
              <a:rPr sz="1866" b="1">
                <a:solidFill>
                  <a:srgbClr val="152840"/>
                </a:solidFill>
                <a:latin typeface="Apple SD Gothic Neo"/>
                <a:ea typeface="Apple SD Gothic Neo"/>
              </a:rPr>
              <a:t>실행 결과의 “있음”보다, 같은 scanId에서 근거와 상태가 이어지는지 보여 줍니다.</a:t>
            </a:r>
          </a:p>
        </p:txBody>
      </p:sp>
      <p:sp>
        <p:nvSpPr>
          <p:cNvPr id="12" name="Oval 11"/>
          <p:cNvSpPr/>
          <p:nvPr/>
        </p:nvSpPr>
        <p:spPr>
          <a:xfrm>
            <a:off x="474133" y="18626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133" y="18626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1</a:t>
            </a:r>
          </a:p>
        </p:txBody>
      </p:sp>
      <p:sp>
        <p:nvSpPr>
          <p:cNvPr id="14" name="Rectangle 13"/>
          <p:cNvSpPr/>
          <p:nvPr/>
        </p:nvSpPr>
        <p:spPr>
          <a:xfrm>
            <a:off x="474133" y="2336800"/>
            <a:ext cx="2099733" cy="13462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4133" y="2336800"/>
            <a:ext cx="42333" cy="134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066" y="2455333"/>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검사 상세</a:t>
            </a:r>
          </a:p>
        </p:txBody>
      </p:sp>
      <p:sp>
        <p:nvSpPr>
          <p:cNvPr id="17" name="TextBox 16"/>
          <p:cNvSpPr txBox="1"/>
          <p:nvPr/>
        </p:nvSpPr>
        <p:spPr>
          <a:xfrm>
            <a:off x="618066" y="2844800"/>
            <a:ext cx="1811866" cy="787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Repository · SHA</a:t>
            </a:r>
          </a:p>
          <a:p>
            <a:pPr algn="l">
              <a:lnSpc>
                <a:spcPct val="118000"/>
              </a:lnSpc>
              <a:spcBef>
                <a:spcPts val="0"/>
              </a:spcBef>
              <a:spcAft>
                <a:spcPts val="0"/>
              </a:spcAft>
            </a:pPr>
            <a:r>
              <a:rPr sz="1533" b="0">
                <a:solidFill>
                  <a:srgbClr val="64748B"/>
                </a:solidFill>
                <a:latin typeface="Apple SD Gothic Neo"/>
                <a:ea typeface="Apple SD Gothic Neo"/>
              </a:rPr>
              <a:t>분석 모드 · 정책 버전</a:t>
            </a:r>
          </a:p>
        </p:txBody>
      </p:sp>
      <p:cxnSp>
        <p:nvCxnSpPr>
          <p:cNvPr id="18" name="Connector 17"/>
          <p:cNvCxnSpPr/>
          <p:nvPr/>
        </p:nvCxnSpPr>
        <p:spPr>
          <a:xfrm>
            <a:off x="2573866" y="2988733"/>
            <a:ext cx="186267"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2760133" y="18626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0133" y="18626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2</a:t>
            </a:r>
          </a:p>
        </p:txBody>
      </p:sp>
      <p:sp>
        <p:nvSpPr>
          <p:cNvPr id="21" name="Rectangle 20"/>
          <p:cNvSpPr/>
          <p:nvPr/>
        </p:nvSpPr>
        <p:spPr>
          <a:xfrm>
            <a:off x="2760133" y="2336800"/>
            <a:ext cx="2099733" cy="13462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60133" y="2336800"/>
            <a:ext cx="42333" cy="134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04066" y="2455333"/>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취약점 상세</a:t>
            </a:r>
          </a:p>
        </p:txBody>
      </p:sp>
      <p:sp>
        <p:nvSpPr>
          <p:cNvPr id="24" name="TextBox 23"/>
          <p:cNvSpPr txBox="1"/>
          <p:nvPr/>
        </p:nvSpPr>
        <p:spPr>
          <a:xfrm>
            <a:off x="2904066" y="2844800"/>
            <a:ext cx="1811866" cy="787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Agent 도구 선택 trace</a:t>
            </a:r>
          </a:p>
          <a:p>
            <a:pPr algn="l">
              <a:lnSpc>
                <a:spcPct val="118000"/>
              </a:lnSpc>
              <a:spcBef>
                <a:spcPts val="0"/>
              </a:spcBef>
              <a:spcAft>
                <a:spcPts val="0"/>
              </a:spcAft>
            </a:pPr>
            <a:r>
              <a:rPr sz="1533" b="0">
                <a:solidFill>
                  <a:srgbClr val="64748B"/>
                </a:solidFill>
                <a:latin typeface="Apple SD Gothic Neo"/>
                <a:ea typeface="Apple SD Gothic Neo"/>
              </a:rPr>
              <a:t>턴 · 관측 · LLM 여부</a:t>
            </a:r>
          </a:p>
        </p:txBody>
      </p:sp>
      <p:cxnSp>
        <p:nvCxnSpPr>
          <p:cNvPr id="25" name="Connector 24"/>
          <p:cNvCxnSpPr/>
          <p:nvPr/>
        </p:nvCxnSpPr>
        <p:spPr>
          <a:xfrm>
            <a:off x="4859866" y="2988733"/>
            <a:ext cx="186267"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046133" y="18626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46133" y="18626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3</a:t>
            </a:r>
          </a:p>
        </p:txBody>
      </p:sp>
      <p:sp>
        <p:nvSpPr>
          <p:cNvPr id="28" name="Rectangle 27"/>
          <p:cNvSpPr/>
          <p:nvPr/>
        </p:nvSpPr>
        <p:spPr>
          <a:xfrm>
            <a:off x="5046133" y="2336800"/>
            <a:ext cx="2099733" cy="13462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46133" y="2336800"/>
            <a:ext cx="42333" cy="134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90066" y="2455333"/>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근거 · 리뷰</a:t>
            </a:r>
          </a:p>
        </p:txBody>
      </p:sp>
      <p:sp>
        <p:nvSpPr>
          <p:cNvPr id="31" name="TextBox 30"/>
          <p:cNvSpPr txBox="1"/>
          <p:nvPr/>
        </p:nvSpPr>
        <p:spPr>
          <a:xfrm>
            <a:off x="5190066" y="2844800"/>
            <a:ext cx="1811866" cy="787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정적 사실 / 인용 조항</a:t>
            </a:r>
          </a:p>
          <a:p>
            <a:pPr algn="l">
              <a:lnSpc>
                <a:spcPct val="118000"/>
              </a:lnSpc>
              <a:spcBef>
                <a:spcPts val="0"/>
              </a:spcBef>
              <a:spcAft>
                <a:spcPts val="0"/>
              </a:spcAft>
            </a:pPr>
            <a:r>
              <a:rPr sz="1533" b="0">
                <a:solidFill>
                  <a:srgbClr val="64748B"/>
                </a:solidFill>
                <a:latin typeface="Apple SD Gothic Neo"/>
                <a:ea typeface="Apple SD Gothic Neo"/>
              </a:rPr>
              <a:t>Red·Blue / 미확인 사항</a:t>
            </a:r>
          </a:p>
        </p:txBody>
      </p:sp>
      <p:cxnSp>
        <p:nvCxnSpPr>
          <p:cNvPr id="32" name="Connector 31"/>
          <p:cNvCxnSpPr/>
          <p:nvPr/>
        </p:nvCxnSpPr>
        <p:spPr>
          <a:xfrm>
            <a:off x="7145866" y="2988733"/>
            <a:ext cx="186267"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332133" y="18626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2133" y="18626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4</a:t>
            </a:r>
          </a:p>
        </p:txBody>
      </p:sp>
      <p:sp>
        <p:nvSpPr>
          <p:cNvPr id="35" name="Rectangle 34"/>
          <p:cNvSpPr/>
          <p:nvPr/>
        </p:nvSpPr>
        <p:spPr>
          <a:xfrm>
            <a:off x="7332133" y="2336800"/>
            <a:ext cx="2099733" cy="13462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32133" y="2336800"/>
            <a:ext cx="42333" cy="134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76066" y="2455333"/>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실행 로그</a:t>
            </a:r>
          </a:p>
        </p:txBody>
      </p:sp>
      <p:sp>
        <p:nvSpPr>
          <p:cNvPr id="38" name="TextBox 37"/>
          <p:cNvSpPr txBox="1"/>
          <p:nvPr/>
        </p:nvSpPr>
        <p:spPr>
          <a:xfrm>
            <a:off x="7476066" y="2844800"/>
            <a:ext cx="1811866" cy="787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MCP 시작·완료</a:t>
            </a:r>
          </a:p>
          <a:p>
            <a:pPr algn="l">
              <a:lnSpc>
                <a:spcPct val="118000"/>
              </a:lnSpc>
              <a:spcBef>
                <a:spcPts val="0"/>
              </a:spcBef>
              <a:spcAft>
                <a:spcPts val="0"/>
              </a:spcAft>
            </a:pPr>
            <a:r>
              <a:rPr sz="1533" b="0">
                <a:solidFill>
                  <a:srgbClr val="64748B"/>
                </a:solidFill>
                <a:latin typeface="Apple SD Gothic Neo"/>
                <a:ea typeface="Apple SD Gothic Neo"/>
              </a:rPr>
              <a:t>선택·예산·보고서 저장</a:t>
            </a:r>
          </a:p>
        </p:txBody>
      </p:sp>
      <p:cxnSp>
        <p:nvCxnSpPr>
          <p:cNvPr id="39" name="Connector 38"/>
          <p:cNvCxnSpPr/>
          <p:nvPr/>
        </p:nvCxnSpPr>
        <p:spPr>
          <a:xfrm>
            <a:off x="9431866" y="2988733"/>
            <a:ext cx="186267" cy="0"/>
          </a:xfrm>
          <a:prstGeom prst="line">
            <a:avLst/>
          </a:prstGeom>
          <a:ln w="16933">
            <a:solidFill>
              <a:srgbClr val="FF6B35"/>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9618133" y="1862666"/>
            <a:ext cx="304800" cy="304800"/>
          </a:xfrm>
          <a:prstGeom prst="ellipse">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18133" y="1862666"/>
            <a:ext cx="304800" cy="304800"/>
          </a:xfrm>
          <a:prstGeom prst="rect">
            <a:avLst/>
          </a:prstGeom>
          <a:noFill/>
        </p:spPr>
        <p:txBody>
          <a:bodyPr wrap="square" lIns="0" rIns="0" tIns="0" bIns="0" anchor="ctr">
            <a:spAutoFit/>
          </a:bodyPr>
          <a:lstStyle/>
          <a:p>
            <a:pPr algn="ctr">
              <a:lnSpc>
                <a:spcPct val="118000"/>
              </a:lnSpc>
              <a:spcBef>
                <a:spcPts val="0"/>
              </a:spcBef>
              <a:spcAft>
                <a:spcPts val="0"/>
              </a:spcAft>
            </a:pPr>
            <a:r>
              <a:rPr sz="1466" b="1">
                <a:solidFill>
                  <a:srgbClr val="FFFFFF"/>
                </a:solidFill>
                <a:latin typeface="Arial"/>
                <a:ea typeface="Apple SD Gothic Neo"/>
              </a:rPr>
              <a:t>5</a:t>
            </a:r>
          </a:p>
        </p:txBody>
      </p:sp>
      <p:sp>
        <p:nvSpPr>
          <p:cNvPr id="42" name="Rectangle 41"/>
          <p:cNvSpPr/>
          <p:nvPr/>
        </p:nvSpPr>
        <p:spPr>
          <a:xfrm>
            <a:off x="9618133" y="2336800"/>
            <a:ext cx="2099733" cy="1346200"/>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18133" y="2336800"/>
            <a:ext cx="42333" cy="134620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62066" y="2455333"/>
            <a:ext cx="1811866"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승인 후 재개</a:t>
            </a:r>
          </a:p>
        </p:txBody>
      </p:sp>
      <p:sp>
        <p:nvSpPr>
          <p:cNvPr id="45" name="TextBox 44"/>
          <p:cNvSpPr txBox="1"/>
          <p:nvPr/>
        </p:nvSpPr>
        <p:spPr>
          <a:xfrm>
            <a:off x="9762066" y="2844800"/>
            <a:ext cx="1811866" cy="787400"/>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동일 scanId 이어가기</a:t>
            </a:r>
          </a:p>
          <a:p>
            <a:pPr algn="l">
              <a:lnSpc>
                <a:spcPct val="118000"/>
              </a:lnSpc>
              <a:spcBef>
                <a:spcPts val="0"/>
              </a:spcBef>
              <a:spcAft>
                <a:spcPts val="0"/>
              </a:spcAft>
            </a:pPr>
            <a:r>
              <a:rPr sz="1533" b="0">
                <a:solidFill>
                  <a:srgbClr val="64748B"/>
                </a:solidFill>
                <a:latin typeface="Apple SD Gothic Neo"/>
                <a:ea typeface="Apple SD Gothic Neo"/>
              </a:rPr>
              <a:t>승인 이슈 / 거절 종료</a:t>
            </a:r>
          </a:p>
        </p:txBody>
      </p:sp>
      <p:sp>
        <p:nvSpPr>
          <p:cNvPr id="46" name="TextBox 45"/>
          <p:cNvSpPr txBox="1"/>
          <p:nvPr/>
        </p:nvSpPr>
        <p:spPr>
          <a:xfrm>
            <a:off x="474133" y="4047066"/>
            <a:ext cx="11243733" cy="330200"/>
          </a:xfrm>
          <a:prstGeom prst="rect">
            <a:avLst/>
          </a:prstGeom>
          <a:noFill/>
        </p:spPr>
        <p:txBody>
          <a:bodyPr wrap="square" lIns="0" rIns="0" tIns="0" bIns="0" anchor="t">
            <a:spAutoFit/>
          </a:bodyPr>
          <a:lstStyle/>
          <a:p>
            <a:pPr algn="l">
              <a:lnSpc>
                <a:spcPct val="118000"/>
              </a:lnSpc>
              <a:spcBef>
                <a:spcPts val="0"/>
              </a:spcBef>
              <a:spcAft>
                <a:spcPts val="0"/>
              </a:spcAft>
            </a:pPr>
            <a:r>
              <a:rPr sz="1933" b="1">
                <a:solidFill>
                  <a:srgbClr val="152840"/>
                </a:solidFill>
                <a:latin typeface="Apple SD Gothic Neo"/>
                <a:ea typeface="Apple SD Gothic Neo"/>
              </a:rPr>
              <a:t>질문을 받았을 때 사용할 설명</a:t>
            </a:r>
          </a:p>
        </p:txBody>
      </p:sp>
      <p:sp>
        <p:nvSpPr>
          <p:cNvPr id="47" name="Rectangle 46"/>
          <p:cNvSpPr/>
          <p:nvPr/>
        </p:nvSpPr>
        <p:spPr>
          <a:xfrm>
            <a:off x="474133" y="4546600"/>
            <a:ext cx="3606800" cy="1126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4133" y="4546600"/>
            <a:ext cx="42333" cy="1126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066" y="4665133"/>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왜 Agent인가?</a:t>
            </a:r>
          </a:p>
        </p:txBody>
      </p:sp>
      <p:sp>
        <p:nvSpPr>
          <p:cNvPr id="50" name="TextBox 49"/>
          <p:cNvSpPr txBox="1"/>
          <p:nvPr/>
        </p:nvSpPr>
        <p:spPr>
          <a:xfrm>
            <a:off x="618066" y="5054600"/>
            <a:ext cx="3318933" cy="567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관측 결과로 다음 도구를 선택하고</a:t>
            </a:r>
          </a:p>
          <a:p>
            <a:pPr algn="l">
              <a:lnSpc>
                <a:spcPct val="118000"/>
              </a:lnSpc>
              <a:spcBef>
                <a:spcPts val="0"/>
              </a:spcBef>
              <a:spcAft>
                <a:spcPts val="0"/>
              </a:spcAft>
            </a:pPr>
            <a:r>
              <a:rPr sz="1533" b="0">
                <a:solidFill>
                  <a:srgbClr val="64748B"/>
                </a:solidFill>
                <a:latin typeface="Apple SD Gothic Neo"/>
                <a:ea typeface="Apple SD Gothic Neo"/>
              </a:rPr>
              <a:t>필수 근거가 있어야 종료합니다.</a:t>
            </a:r>
          </a:p>
        </p:txBody>
      </p:sp>
      <p:sp>
        <p:nvSpPr>
          <p:cNvPr id="51" name="Rectangle 50"/>
          <p:cNvSpPr/>
          <p:nvPr/>
        </p:nvSpPr>
        <p:spPr>
          <a:xfrm>
            <a:off x="4292600" y="4546600"/>
            <a:ext cx="3606800" cy="1126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92600" y="4546600"/>
            <a:ext cx="42333" cy="1126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36533" y="4665133"/>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왜 MCP인가?</a:t>
            </a:r>
          </a:p>
        </p:txBody>
      </p:sp>
      <p:sp>
        <p:nvSpPr>
          <p:cNvPr id="54" name="TextBox 53"/>
          <p:cNvSpPr txBox="1"/>
          <p:nvPr/>
        </p:nvSpPr>
        <p:spPr>
          <a:xfrm>
            <a:off x="4436533" y="5054600"/>
            <a:ext cx="3318933" cy="567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업무 API와 문서 검색을</a:t>
            </a:r>
          </a:p>
          <a:p>
            <a:pPr algn="l">
              <a:lnSpc>
                <a:spcPct val="118000"/>
              </a:lnSpc>
              <a:spcBef>
                <a:spcPts val="0"/>
              </a:spcBef>
              <a:spcAft>
                <a:spcPts val="0"/>
              </a:spcAft>
            </a:pPr>
            <a:r>
              <a:rPr sz="1533" b="0">
                <a:solidFill>
                  <a:srgbClr val="64748B"/>
                </a:solidFill>
                <a:latin typeface="Apple SD Gothic Neo"/>
                <a:ea typeface="Apple SD Gothic Neo"/>
              </a:rPr>
              <a:t>명시적 도구 계약으로 분리합니다.</a:t>
            </a:r>
          </a:p>
        </p:txBody>
      </p:sp>
      <p:sp>
        <p:nvSpPr>
          <p:cNvPr id="55" name="Rectangle 54"/>
          <p:cNvSpPr/>
          <p:nvPr/>
        </p:nvSpPr>
        <p:spPr>
          <a:xfrm>
            <a:off x="8111066" y="4546600"/>
            <a:ext cx="3606800" cy="1126066"/>
          </a:xfrm>
          <a:prstGeom prst="rect">
            <a:avLst/>
          </a:prstGeom>
          <a:solidFill>
            <a:srgbClr val="FFFFFF"/>
          </a:solidFill>
          <a:ln w="11853">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111066" y="4546600"/>
            <a:ext cx="42333" cy="1126066"/>
          </a:xfrm>
          <a:prstGeom prst="rect">
            <a:avLst/>
          </a:prstGeom>
          <a:solidFill>
            <a:srgbClr val="365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55000" y="4665133"/>
            <a:ext cx="3318933" cy="330200"/>
          </a:xfrm>
          <a:prstGeom prst="rect">
            <a:avLst/>
          </a:prstGeom>
          <a:noFill/>
        </p:spPr>
        <p:txBody>
          <a:bodyPr wrap="square" lIns="0" rIns="0" tIns="0" bIns="0" anchor="t">
            <a:spAutoFit/>
          </a:bodyPr>
          <a:lstStyle/>
          <a:p>
            <a:pPr algn="l">
              <a:lnSpc>
                <a:spcPct val="118000"/>
              </a:lnSpc>
              <a:spcBef>
                <a:spcPts val="0"/>
              </a:spcBef>
              <a:spcAft>
                <a:spcPts val="0"/>
              </a:spcAft>
            </a:pPr>
            <a:r>
              <a:rPr sz="1733" b="1">
                <a:solidFill>
                  <a:srgbClr val="152840"/>
                </a:solidFill>
                <a:latin typeface="Apple SD Gothic Neo"/>
                <a:ea typeface="Apple SD Gothic Neo"/>
              </a:rPr>
              <a:t>어디까지 검증했나?</a:t>
            </a:r>
          </a:p>
        </p:txBody>
      </p:sp>
      <p:sp>
        <p:nvSpPr>
          <p:cNvPr id="58" name="TextBox 57"/>
          <p:cNvSpPr txBox="1"/>
          <p:nvPr/>
        </p:nvSpPr>
        <p:spPr>
          <a:xfrm>
            <a:off x="8255000" y="5054600"/>
            <a:ext cx="3318933" cy="567266"/>
          </a:xfrm>
          <a:prstGeom prst="rect">
            <a:avLst/>
          </a:prstGeom>
          <a:noFill/>
        </p:spPr>
        <p:txBody>
          <a:bodyPr wrap="square" lIns="0" rIns="0" tIns="0" bIns="0" anchor="t">
            <a:spAutoFit/>
          </a:bodyPr>
          <a:lstStyle/>
          <a:p>
            <a:pPr algn="l">
              <a:lnSpc>
                <a:spcPct val="118000"/>
              </a:lnSpc>
              <a:spcBef>
                <a:spcPts val="0"/>
              </a:spcBef>
              <a:spcAft>
                <a:spcPts val="0"/>
              </a:spcAft>
            </a:pPr>
            <a:r>
              <a:rPr sz="1533" b="0">
                <a:solidFill>
                  <a:srgbClr val="64748B"/>
                </a:solidFill>
                <a:latin typeface="Apple SD Gothic Neo"/>
                <a:ea typeface="Apple SD Gothic Neo"/>
              </a:rPr>
              <a:t>정적 사실·정책·승인 흐름까지.</a:t>
            </a:r>
          </a:p>
          <a:p>
            <a:pPr algn="l">
              <a:lnSpc>
                <a:spcPct val="118000"/>
              </a:lnSpc>
              <a:spcBef>
                <a:spcPts val="0"/>
              </a:spcBef>
              <a:spcAft>
                <a:spcPts val="0"/>
              </a:spcAft>
            </a:pPr>
            <a:r>
              <a:rPr sz="1533" b="0">
                <a:solidFill>
                  <a:srgbClr val="64748B"/>
                </a:solidFill>
                <a:latin typeface="Apple SD Gothic Neo"/>
                <a:ea typeface="Apple SD Gothic Neo"/>
              </a:rPr>
              <a:t>실제 업무 목적과 운영 규모는 과제입니다.</a:t>
            </a:r>
          </a:p>
        </p:txBody>
      </p:sp>
      <p:sp>
        <p:nvSpPr>
          <p:cNvPr id="59" name="Rectangle 58"/>
          <p:cNvSpPr/>
          <p:nvPr/>
        </p:nvSpPr>
        <p:spPr>
          <a:xfrm>
            <a:off x="474133" y="5918200"/>
            <a:ext cx="11243733" cy="414866"/>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74133" y="5918200"/>
            <a:ext cx="33866" cy="41486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3466" y="5994400"/>
            <a:ext cx="10905066" cy="287866"/>
          </a:xfrm>
          <a:prstGeom prst="rect">
            <a:avLst/>
          </a:prstGeom>
          <a:noFill/>
        </p:spPr>
        <p:txBody>
          <a:bodyPr wrap="square" lIns="0" rIns="0" tIns="0" bIns="0" anchor="t">
            <a:spAutoFit/>
          </a:bodyPr>
          <a:lstStyle/>
          <a:p>
            <a:pPr algn="l">
              <a:lnSpc>
                <a:spcPct val="118000"/>
              </a:lnSpc>
              <a:spcBef>
                <a:spcPts val="0"/>
              </a:spcBef>
              <a:spcAft>
                <a:spcPts val="0"/>
              </a:spcAft>
            </a:pPr>
            <a:r>
              <a:rPr sz="1600" b="1">
                <a:solidFill>
                  <a:srgbClr val="152840"/>
                </a:solidFill>
                <a:latin typeface="Apple SD Gothic Neo"/>
                <a:ea typeface="Apple SD Gothic Neo"/>
              </a:rPr>
              <a:t>시연 전 조건: 실제 완료 데이터·LLM trace·참조 문서 / HITL 시연에는 PENDING 요청 필요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CSI — 평가표 기반 Architecture · AI Agent · MCP 설계와 구현</dc:title>
  <dc:subject>Capstone 평가표 73쪽의 담당 영역 60점에 대한 설계·구현·검증 대응</dc:subject>
  <dc:creator>CSI Team</dc:creator>
  <cp:keywords>CSI, Architecture, ISO/IEC 25010, LangGraph, MCP, Capstone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